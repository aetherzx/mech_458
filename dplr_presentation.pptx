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65" r:id="rId5"/>
    <p:sldId id="259" r:id="rId6"/>
    <p:sldId id="273" r:id="rId7"/>
    <p:sldId id="267" r:id="rId8"/>
    <p:sldId id="260" r:id="rId9"/>
    <p:sldId id="262" r:id="rId10"/>
    <p:sldId id="263" r:id="rId11"/>
    <p:sldId id="274"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532E69-7184-473F-97FD-E4CE2B1B3CA7}" v="30" dt="2025-11-04T09:31:49.6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501" autoAdjust="0"/>
  </p:normalViewPr>
  <p:slideViewPr>
    <p:cSldViewPr snapToGrid="0">
      <p:cViewPr varScale="1">
        <p:scale>
          <a:sx n="66" d="100"/>
          <a:sy n="66" d="100"/>
        </p:scale>
        <p:origin x="1095" y="54"/>
      </p:cViewPr>
      <p:guideLst/>
    </p:cSldViewPr>
  </p:slideViewPr>
  <p:notesTextViewPr>
    <p:cViewPr>
      <p:scale>
        <a:sx n="133" d="100"/>
        <a:sy n="133"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zesiro@student.ubc.ca" userId="7ffdbf0b-4465-4d50-ba7c-ed8eb58fe0c6" providerId="ADAL" clId="{677279F5-D65D-40D2-9CC8-4DFCC6B8714C}"/>
    <pc:docChg chg="custSel addSld delSld modSld">
      <pc:chgData name="gzesiro@student.ubc.ca" userId="7ffdbf0b-4465-4d50-ba7c-ed8eb58fe0c6" providerId="ADAL" clId="{677279F5-D65D-40D2-9CC8-4DFCC6B8714C}" dt="2025-11-13T22:50:25.714" v="1638" actId="20577"/>
      <pc:docMkLst>
        <pc:docMk/>
      </pc:docMkLst>
      <pc:sldChg chg="modSp mod">
        <pc:chgData name="gzesiro@student.ubc.ca" userId="7ffdbf0b-4465-4d50-ba7c-ed8eb58fe0c6" providerId="ADAL" clId="{677279F5-D65D-40D2-9CC8-4DFCC6B8714C}" dt="2025-11-13T22:50:25.714" v="1638" actId="20577"/>
        <pc:sldMkLst>
          <pc:docMk/>
          <pc:sldMk cId="1012011123" sldId="256"/>
        </pc:sldMkLst>
        <pc:spChg chg="mod">
          <ac:chgData name="gzesiro@student.ubc.ca" userId="7ffdbf0b-4465-4d50-ba7c-ed8eb58fe0c6" providerId="ADAL" clId="{677279F5-D65D-40D2-9CC8-4DFCC6B8714C}" dt="2025-11-03T09:10:48.235" v="58"/>
          <ac:spMkLst>
            <pc:docMk/>
            <pc:sldMk cId="1012011123" sldId="256"/>
            <ac:spMk id="2" creationId="{E47AF883-4265-E28F-8AA7-186AA915529F}"/>
          </ac:spMkLst>
        </pc:spChg>
        <pc:spChg chg="mod">
          <ac:chgData name="gzesiro@student.ubc.ca" userId="7ffdbf0b-4465-4d50-ba7c-ed8eb58fe0c6" providerId="ADAL" clId="{677279F5-D65D-40D2-9CC8-4DFCC6B8714C}" dt="2025-11-13T22:50:25.714" v="1638" actId="20577"/>
          <ac:spMkLst>
            <pc:docMk/>
            <pc:sldMk cId="1012011123" sldId="256"/>
            <ac:spMk id="3" creationId="{71845432-069E-B2AB-F131-4AE2470D0021}"/>
          </ac:spMkLst>
        </pc:spChg>
      </pc:sldChg>
      <pc:sldChg chg="modSp mod modNotesTx">
        <pc:chgData name="gzesiro@student.ubc.ca" userId="7ffdbf0b-4465-4d50-ba7c-ed8eb58fe0c6" providerId="ADAL" clId="{677279F5-D65D-40D2-9CC8-4DFCC6B8714C}" dt="2025-11-04T22:27:59.969" v="1632" actId="20577"/>
        <pc:sldMkLst>
          <pc:docMk/>
          <pc:sldMk cId="43410057" sldId="257"/>
        </pc:sldMkLst>
        <pc:spChg chg="mod">
          <ac:chgData name="gzesiro@student.ubc.ca" userId="7ffdbf0b-4465-4d50-ba7c-ed8eb58fe0c6" providerId="ADAL" clId="{677279F5-D65D-40D2-9CC8-4DFCC6B8714C}" dt="2025-11-04T22:27:06.701" v="1467" actId="20577"/>
          <ac:spMkLst>
            <pc:docMk/>
            <pc:sldMk cId="43410057" sldId="257"/>
            <ac:spMk id="3" creationId="{31737AAE-1CDC-D694-1E37-1470D3203765}"/>
          </ac:spMkLst>
        </pc:spChg>
      </pc:sldChg>
      <pc:sldChg chg="addSp modSp mod modNotesTx">
        <pc:chgData name="gzesiro@student.ubc.ca" userId="7ffdbf0b-4465-4d50-ba7c-ed8eb58fe0c6" providerId="ADAL" clId="{677279F5-D65D-40D2-9CC8-4DFCC6B8714C}" dt="2025-11-04T09:32:40.691" v="646" actId="20577"/>
        <pc:sldMkLst>
          <pc:docMk/>
          <pc:sldMk cId="2844356501" sldId="258"/>
        </pc:sldMkLst>
        <pc:spChg chg="mod">
          <ac:chgData name="gzesiro@student.ubc.ca" userId="7ffdbf0b-4465-4d50-ba7c-ed8eb58fe0c6" providerId="ADAL" clId="{677279F5-D65D-40D2-9CC8-4DFCC6B8714C}" dt="2025-11-03T09:04:22.985" v="5" actId="20577"/>
          <ac:spMkLst>
            <pc:docMk/>
            <pc:sldMk cId="2844356501" sldId="258"/>
            <ac:spMk id="3" creationId="{A36E5A0E-0464-A894-3405-B4DD667EDC4F}"/>
          </ac:spMkLst>
        </pc:spChg>
        <pc:picChg chg="add mod">
          <ac:chgData name="gzesiro@student.ubc.ca" userId="7ffdbf0b-4465-4d50-ba7c-ed8eb58fe0c6" providerId="ADAL" clId="{677279F5-D65D-40D2-9CC8-4DFCC6B8714C}" dt="2025-11-04T09:31:35.781" v="582"/>
          <ac:picMkLst>
            <pc:docMk/>
            <pc:sldMk cId="2844356501" sldId="258"/>
            <ac:picMk id="4" creationId="{779DEEB6-DE64-8948-E53C-4CC9D373D370}"/>
          </ac:picMkLst>
        </pc:picChg>
        <pc:picChg chg="mod">
          <ac:chgData name="gzesiro@student.ubc.ca" userId="7ffdbf0b-4465-4d50-ba7c-ed8eb58fe0c6" providerId="ADAL" clId="{677279F5-D65D-40D2-9CC8-4DFCC6B8714C}" dt="2025-11-04T09:31:41.049" v="583" actId="1076"/>
          <ac:picMkLst>
            <pc:docMk/>
            <pc:sldMk cId="2844356501" sldId="258"/>
            <ac:picMk id="5" creationId="{0CA65293-A6FE-0EFE-A494-5139C5F79219}"/>
          </ac:picMkLst>
        </pc:picChg>
      </pc:sldChg>
      <pc:sldChg chg="modSp mod modNotesTx">
        <pc:chgData name="gzesiro@student.ubc.ca" userId="7ffdbf0b-4465-4d50-ba7c-ed8eb58fe0c6" providerId="ADAL" clId="{677279F5-D65D-40D2-9CC8-4DFCC6B8714C}" dt="2025-11-04T09:36:07.896" v="697" actId="20577"/>
        <pc:sldMkLst>
          <pc:docMk/>
          <pc:sldMk cId="1949869816" sldId="259"/>
        </pc:sldMkLst>
        <pc:spChg chg="mod">
          <ac:chgData name="gzesiro@student.ubc.ca" userId="7ffdbf0b-4465-4d50-ba7c-ed8eb58fe0c6" providerId="ADAL" clId="{677279F5-D65D-40D2-9CC8-4DFCC6B8714C}" dt="2025-11-03T09:38:37.806" v="539" actId="27636"/>
          <ac:spMkLst>
            <pc:docMk/>
            <pc:sldMk cId="1949869816" sldId="259"/>
            <ac:spMk id="3" creationId="{22EB0504-69E4-7BBF-FC79-5BCB86B2F0FD}"/>
          </ac:spMkLst>
        </pc:spChg>
      </pc:sldChg>
      <pc:sldChg chg="modSp mod modNotesTx">
        <pc:chgData name="gzesiro@student.ubc.ca" userId="7ffdbf0b-4465-4d50-ba7c-ed8eb58fe0c6" providerId="ADAL" clId="{677279F5-D65D-40D2-9CC8-4DFCC6B8714C}" dt="2025-11-04T09:41:33.670" v="906" actId="20577"/>
        <pc:sldMkLst>
          <pc:docMk/>
          <pc:sldMk cId="904579622" sldId="260"/>
        </pc:sldMkLst>
        <pc:spChg chg="mod">
          <ac:chgData name="gzesiro@student.ubc.ca" userId="7ffdbf0b-4465-4d50-ba7c-ed8eb58fe0c6" providerId="ADAL" clId="{677279F5-D65D-40D2-9CC8-4DFCC6B8714C}" dt="2025-11-03T09:27:59.214" v="445" actId="20577"/>
          <ac:spMkLst>
            <pc:docMk/>
            <pc:sldMk cId="904579622" sldId="260"/>
            <ac:spMk id="2" creationId="{F0DAD90A-4904-8752-AECA-E4745DE2D2BC}"/>
          </ac:spMkLst>
        </pc:spChg>
        <pc:spChg chg="mod">
          <ac:chgData name="gzesiro@student.ubc.ca" userId="7ffdbf0b-4465-4d50-ba7c-ed8eb58fe0c6" providerId="ADAL" clId="{677279F5-D65D-40D2-9CC8-4DFCC6B8714C}" dt="2025-11-04T09:41:05.491" v="837" actId="20577"/>
          <ac:spMkLst>
            <pc:docMk/>
            <pc:sldMk cId="904579622" sldId="260"/>
            <ac:spMk id="3" creationId="{C44A9484-21F4-08E4-9B12-0922C86B3499}"/>
          </ac:spMkLst>
        </pc:spChg>
      </pc:sldChg>
      <pc:sldChg chg="modSp mod">
        <pc:chgData name="gzesiro@student.ubc.ca" userId="7ffdbf0b-4465-4d50-ba7c-ed8eb58fe0c6" providerId="ADAL" clId="{677279F5-D65D-40D2-9CC8-4DFCC6B8714C}" dt="2025-11-03T09:39:51.319" v="552" actId="255"/>
        <pc:sldMkLst>
          <pc:docMk/>
          <pc:sldMk cId="2237514312" sldId="262"/>
        </pc:sldMkLst>
        <pc:spChg chg="mod">
          <ac:chgData name="gzesiro@student.ubc.ca" userId="7ffdbf0b-4465-4d50-ba7c-ed8eb58fe0c6" providerId="ADAL" clId="{677279F5-D65D-40D2-9CC8-4DFCC6B8714C}" dt="2025-11-03T09:28:07.188" v="447" actId="20577"/>
          <ac:spMkLst>
            <pc:docMk/>
            <pc:sldMk cId="2237514312" sldId="262"/>
            <ac:spMk id="2" creationId="{537CC2B3-4A76-54F4-D27D-8B0C727803DF}"/>
          </ac:spMkLst>
        </pc:spChg>
        <pc:spChg chg="mod">
          <ac:chgData name="gzesiro@student.ubc.ca" userId="7ffdbf0b-4465-4d50-ba7c-ed8eb58fe0c6" providerId="ADAL" clId="{677279F5-D65D-40D2-9CC8-4DFCC6B8714C}" dt="2025-11-03T09:39:51.319" v="552" actId="255"/>
          <ac:spMkLst>
            <pc:docMk/>
            <pc:sldMk cId="2237514312" sldId="262"/>
            <ac:spMk id="3" creationId="{1F9D6105-32F8-F850-32E6-8C09AAFC4F8B}"/>
          </ac:spMkLst>
        </pc:spChg>
      </pc:sldChg>
      <pc:sldChg chg="modSp mod modNotesTx">
        <pc:chgData name="gzesiro@student.ubc.ca" userId="7ffdbf0b-4465-4d50-ba7c-ed8eb58fe0c6" providerId="ADAL" clId="{677279F5-D65D-40D2-9CC8-4DFCC6B8714C}" dt="2025-11-13T22:14:08.735" v="1634" actId="20577"/>
        <pc:sldMkLst>
          <pc:docMk/>
          <pc:sldMk cId="2038085132" sldId="263"/>
        </pc:sldMkLst>
        <pc:spChg chg="mod">
          <ac:chgData name="gzesiro@student.ubc.ca" userId="7ffdbf0b-4465-4d50-ba7c-ed8eb58fe0c6" providerId="ADAL" clId="{677279F5-D65D-40D2-9CC8-4DFCC6B8714C}" dt="2025-11-03T09:39:58.095" v="553" actId="255"/>
          <ac:spMkLst>
            <pc:docMk/>
            <pc:sldMk cId="2038085132" sldId="263"/>
            <ac:spMk id="3" creationId="{F20096DC-6530-0A25-CC47-875777519B8D}"/>
          </ac:spMkLst>
        </pc:spChg>
      </pc:sldChg>
      <pc:sldChg chg="addSp delSp modSp mod modNotesTx">
        <pc:chgData name="gzesiro@student.ubc.ca" userId="7ffdbf0b-4465-4d50-ba7c-ed8eb58fe0c6" providerId="ADAL" clId="{677279F5-D65D-40D2-9CC8-4DFCC6B8714C}" dt="2025-11-04T09:33:28.744" v="656" actId="14100"/>
        <pc:sldMkLst>
          <pc:docMk/>
          <pc:sldMk cId="3552605020" sldId="265"/>
        </pc:sldMkLst>
        <pc:picChg chg="add mod">
          <ac:chgData name="gzesiro@student.ubc.ca" userId="7ffdbf0b-4465-4d50-ba7c-ed8eb58fe0c6" providerId="ADAL" clId="{677279F5-D65D-40D2-9CC8-4DFCC6B8714C}" dt="2025-11-04T09:33:28.744" v="656" actId="14100"/>
          <ac:picMkLst>
            <pc:docMk/>
            <pc:sldMk cId="3552605020" sldId="265"/>
            <ac:picMk id="4" creationId="{3F919771-8034-F574-CE20-FDAF669003E3}"/>
          </ac:picMkLst>
        </pc:picChg>
      </pc:sldChg>
      <pc:sldChg chg="modSp mod modNotesTx">
        <pc:chgData name="gzesiro@student.ubc.ca" userId="7ffdbf0b-4465-4d50-ba7c-ed8eb58fe0c6" providerId="ADAL" clId="{677279F5-D65D-40D2-9CC8-4DFCC6B8714C}" dt="2025-11-04T09:37:39.709" v="741" actId="20577"/>
        <pc:sldMkLst>
          <pc:docMk/>
          <pc:sldMk cId="98866327" sldId="267"/>
        </pc:sldMkLst>
        <pc:spChg chg="mod">
          <ac:chgData name="gzesiro@student.ubc.ca" userId="7ffdbf0b-4465-4d50-ba7c-ed8eb58fe0c6" providerId="ADAL" clId="{677279F5-D65D-40D2-9CC8-4DFCC6B8714C}" dt="2025-11-03T09:06:20.558" v="56" actId="20577"/>
          <ac:spMkLst>
            <pc:docMk/>
            <pc:sldMk cId="98866327" sldId="267"/>
            <ac:spMk id="2" creationId="{DB93E7B6-8347-40AE-1C26-FBE9BE186F83}"/>
          </ac:spMkLst>
        </pc:spChg>
        <pc:spChg chg="mod">
          <ac:chgData name="gzesiro@student.ubc.ca" userId="7ffdbf0b-4465-4d50-ba7c-ed8eb58fe0c6" providerId="ADAL" clId="{677279F5-D65D-40D2-9CC8-4DFCC6B8714C}" dt="2025-11-03T09:39:38.209" v="550" actId="255"/>
          <ac:spMkLst>
            <pc:docMk/>
            <pc:sldMk cId="98866327" sldId="267"/>
            <ac:spMk id="3" creationId="{EFF26FCD-5FF4-B108-893A-89A8AF5C99A2}"/>
          </ac:spMkLst>
        </pc:spChg>
        <pc:picChg chg="mod">
          <ac:chgData name="gzesiro@student.ubc.ca" userId="7ffdbf0b-4465-4d50-ba7c-ed8eb58fe0c6" providerId="ADAL" clId="{677279F5-D65D-40D2-9CC8-4DFCC6B8714C}" dt="2025-11-03T09:25:17.993" v="381" actId="1076"/>
          <ac:picMkLst>
            <pc:docMk/>
            <pc:sldMk cId="98866327" sldId="267"/>
            <ac:picMk id="6" creationId="{306FB4EF-DD00-03CB-4EC9-51005A96777C}"/>
          </ac:picMkLst>
        </pc:picChg>
      </pc:sldChg>
      <pc:sldChg chg="modSp mod">
        <pc:chgData name="gzesiro@student.ubc.ca" userId="7ffdbf0b-4465-4d50-ba7c-ed8eb58fe0c6" providerId="ADAL" clId="{677279F5-D65D-40D2-9CC8-4DFCC6B8714C}" dt="2025-11-03T09:31:52.021" v="513" actId="20577"/>
        <pc:sldMkLst>
          <pc:docMk/>
          <pc:sldMk cId="213670320" sldId="268"/>
        </pc:sldMkLst>
        <pc:spChg chg="mod">
          <ac:chgData name="gzesiro@student.ubc.ca" userId="7ffdbf0b-4465-4d50-ba7c-ed8eb58fe0c6" providerId="ADAL" clId="{677279F5-D65D-40D2-9CC8-4DFCC6B8714C}" dt="2025-11-03T09:31:52.021" v="513" actId="20577"/>
          <ac:spMkLst>
            <pc:docMk/>
            <pc:sldMk cId="213670320" sldId="268"/>
            <ac:spMk id="2" creationId="{E7538321-5CEC-9666-A329-8695B6EF75D6}"/>
          </ac:spMkLst>
        </pc:spChg>
      </pc:sldChg>
      <pc:sldChg chg="modSp mod">
        <pc:chgData name="gzesiro@student.ubc.ca" userId="7ffdbf0b-4465-4d50-ba7c-ed8eb58fe0c6" providerId="ADAL" clId="{677279F5-D65D-40D2-9CC8-4DFCC6B8714C}" dt="2025-11-03T09:39:18.231" v="546" actId="14100"/>
        <pc:sldMkLst>
          <pc:docMk/>
          <pc:sldMk cId="3405419493" sldId="273"/>
        </pc:sldMkLst>
        <pc:spChg chg="mod">
          <ac:chgData name="gzesiro@student.ubc.ca" userId="7ffdbf0b-4465-4d50-ba7c-ed8eb58fe0c6" providerId="ADAL" clId="{677279F5-D65D-40D2-9CC8-4DFCC6B8714C}" dt="2025-11-03T09:06:23.791" v="57" actId="20577"/>
          <ac:spMkLst>
            <pc:docMk/>
            <pc:sldMk cId="3405419493" sldId="273"/>
            <ac:spMk id="2" creationId="{44143836-9B58-C108-616B-825C421B01B9}"/>
          </ac:spMkLst>
        </pc:spChg>
        <pc:spChg chg="mod">
          <ac:chgData name="gzesiro@student.ubc.ca" userId="7ffdbf0b-4465-4d50-ba7c-ed8eb58fe0c6" providerId="ADAL" clId="{677279F5-D65D-40D2-9CC8-4DFCC6B8714C}" dt="2025-11-03T09:39:18.231" v="546" actId="14100"/>
          <ac:spMkLst>
            <pc:docMk/>
            <pc:sldMk cId="3405419493" sldId="273"/>
            <ac:spMk id="3" creationId="{6DA56549-17DD-6028-8786-90D52EBBFAB0}"/>
          </ac:spMkLst>
        </pc:spChg>
        <pc:picChg chg="mod">
          <ac:chgData name="gzesiro@student.ubc.ca" userId="7ffdbf0b-4465-4d50-ba7c-ed8eb58fe0c6" providerId="ADAL" clId="{677279F5-D65D-40D2-9CC8-4DFCC6B8714C}" dt="2025-11-03T09:39:11.034" v="544" actId="14100"/>
          <ac:picMkLst>
            <pc:docMk/>
            <pc:sldMk cId="3405419493" sldId="273"/>
            <ac:picMk id="7" creationId="{975EEE29-D4A0-C77A-DFD0-F1AE81C850E5}"/>
          </ac:picMkLst>
        </pc:picChg>
      </pc:sldChg>
      <pc:sldChg chg="delSp modSp new mod">
        <pc:chgData name="gzesiro@student.ubc.ca" userId="7ffdbf0b-4465-4d50-ba7c-ed8eb58fe0c6" providerId="ADAL" clId="{677279F5-D65D-40D2-9CC8-4DFCC6B8714C}" dt="2025-11-03T09:29:52.643" v="460" actId="478"/>
        <pc:sldMkLst>
          <pc:docMk/>
          <pc:sldMk cId="3434425335" sldId="274"/>
        </pc:sldMkLst>
        <pc:spChg chg="mod">
          <ac:chgData name="gzesiro@student.ubc.ca" userId="7ffdbf0b-4465-4d50-ba7c-ed8eb58fe0c6" providerId="ADAL" clId="{677279F5-D65D-40D2-9CC8-4DFCC6B8714C}" dt="2025-11-03T09:29:49.515" v="459" actId="1076"/>
          <ac:spMkLst>
            <pc:docMk/>
            <pc:sldMk cId="3434425335" sldId="274"/>
            <ac:spMk id="2" creationId="{1B82473E-F273-2020-DF96-B1B1D98DB8B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2ABD3-D2D2-48A0-89D3-25BB1E663D6F}"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222982-4A62-465E-A0C9-B681D1115264}" type="slidenum">
              <a:rPr lang="en-US" smtClean="0"/>
              <a:t>‹#›</a:t>
            </a:fld>
            <a:endParaRPr lang="en-US"/>
          </a:p>
        </p:txBody>
      </p:sp>
    </p:spTree>
    <p:extLst>
      <p:ext uri="{BB962C8B-B14F-4D97-AF65-F5344CB8AC3E}">
        <p14:creationId xmlns:p14="http://schemas.microsoft.com/office/powerpoint/2010/main" val="510703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morning everyone. Today, I'll be presenting a summary and reflection on a paper called 'Physical Prototyping Rationale in Design Student Projects'.</a:t>
            </a:r>
          </a:p>
          <a:p>
            <a:r>
              <a:rPr lang="en-US" sz="1200" b="0" i="0" kern="1200" dirty="0">
                <a:solidFill>
                  <a:schemeClr val="tx1"/>
                </a:solidFill>
                <a:effectLst/>
                <a:latin typeface="+mn-lt"/>
                <a:ea typeface="+mn-ea"/>
                <a:cs typeface="+mn-cs"/>
              </a:rPr>
              <a:t>This research takes a deep dive into a topic that's incredibly relevant for all of us in this room, especially as we work on our capstone projects: it explores </a:t>
            </a:r>
            <a:r>
              <a:rPr lang="en-US" sz="1200" b="0" i="1" kern="1200" dirty="0">
                <a:solidFill>
                  <a:schemeClr val="tx1"/>
                </a:solidFill>
                <a:effectLst/>
                <a:latin typeface="+mn-lt"/>
                <a:ea typeface="+mn-ea"/>
                <a:cs typeface="+mn-cs"/>
              </a:rPr>
              <a:t>why</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design students actually use physical prototypes, and what separates a successful project from a less successful one when it comes to model-making."</a:t>
            </a:r>
          </a:p>
          <a:p>
            <a:endParaRPr lang="en-CA" dirty="0"/>
          </a:p>
        </p:txBody>
      </p:sp>
      <p:sp>
        <p:nvSpPr>
          <p:cNvPr id="4" name="Slide Number Placeholder 3"/>
          <p:cNvSpPr>
            <a:spLocks noGrp="1"/>
          </p:cNvSpPr>
          <p:nvPr>
            <p:ph type="sldNum" sz="quarter" idx="5"/>
          </p:nvPr>
        </p:nvSpPr>
        <p:spPr/>
        <p:txBody>
          <a:bodyPr/>
          <a:lstStyle/>
          <a:p>
            <a:fld id="{C0222982-4A62-465E-A0C9-B681D1115264}" type="slidenum">
              <a:rPr lang="en-US" smtClean="0"/>
              <a:t>1</a:t>
            </a:fld>
            <a:endParaRPr lang="en-US"/>
          </a:p>
        </p:txBody>
      </p:sp>
    </p:spTree>
    <p:extLst>
      <p:ext uri="{BB962C8B-B14F-4D97-AF65-F5344CB8AC3E}">
        <p14:creationId xmlns:p14="http://schemas.microsoft.com/office/powerpoint/2010/main" val="210629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all know that prototyping is a critical part of engineering design. We build models that can range from simple appearance mockups to fully functional hardware. The goal is to boost our creativity and help us evaluate our concepts. So naturally, we ask the question of are we actually using our prototype properly?</a:t>
            </a:r>
          </a:p>
          <a:p>
            <a:r>
              <a:rPr lang="en-US" sz="1200" b="0" i="0" kern="1200" dirty="0">
                <a:solidFill>
                  <a:schemeClr val="tx1"/>
                </a:solidFill>
                <a:effectLst/>
                <a:latin typeface="+mn-lt"/>
                <a:ea typeface="+mn-ea"/>
                <a:cs typeface="+mn-cs"/>
              </a:rPr>
              <a:t>This question rises because the author </a:t>
            </a:r>
            <a:r>
              <a:rPr lang="en-US" sz="1200" b="0" i="0" kern="1200">
                <a:solidFill>
                  <a:schemeClr val="tx1"/>
                </a:solidFill>
                <a:effectLst/>
                <a:latin typeface="+mn-lt"/>
                <a:ea typeface="+mn-ea"/>
                <a:cs typeface="+mn-cs"/>
              </a:rPr>
              <a:t>argues that, while </a:t>
            </a:r>
            <a:r>
              <a:rPr lang="en-US" sz="1200" b="0" i="0" kern="1200" dirty="0">
                <a:solidFill>
                  <a:schemeClr val="tx1"/>
                </a:solidFill>
                <a:effectLst/>
                <a:latin typeface="+mn-lt"/>
                <a:ea typeface="+mn-ea"/>
                <a:cs typeface="+mn-cs"/>
              </a:rPr>
              <a:t>prototyping is a major part of our education, it's often poorly understood and implemented. Students tend to have a very narrow view of what a prototype is for, which prevents them from getting the maximum benefit from the time and effort they put into building them."</a:t>
            </a:r>
          </a:p>
          <a:p>
            <a:r>
              <a:rPr lang="en-US" sz="1200" b="0" i="0" kern="1200" dirty="0">
                <a:solidFill>
                  <a:schemeClr val="tx1"/>
                </a:solidFill>
                <a:effectLst/>
                <a:latin typeface="+mn-lt"/>
                <a:ea typeface="+mn-ea"/>
                <a:cs typeface="+mn-cs"/>
              </a:rPr>
              <a:t>"This leads to the core concept of the paper: </a:t>
            </a:r>
            <a:r>
              <a:rPr lang="en-US" sz="1200" b="1" i="0" kern="1200" dirty="0">
                <a:solidFill>
                  <a:schemeClr val="tx1"/>
                </a:solidFill>
                <a:effectLst/>
                <a:latin typeface="+mn-lt"/>
                <a:ea typeface="+mn-ea"/>
                <a:cs typeface="+mn-cs"/>
              </a:rPr>
              <a:t>Purposeful Prototyping</a:t>
            </a:r>
            <a:r>
              <a:rPr lang="en-US" sz="1200" b="0" i="0" kern="1200" dirty="0">
                <a:solidFill>
                  <a:schemeClr val="tx1"/>
                </a:solidFill>
                <a:effectLst/>
                <a:latin typeface="+mn-lt"/>
                <a:ea typeface="+mn-ea"/>
                <a:cs typeface="+mn-cs"/>
              </a:rPr>
              <a:t>. The idea is that before you even start building, you should have a clear, specific purpose in mind.</a:t>
            </a:r>
            <a:endParaRPr lang="en-CA" dirty="0"/>
          </a:p>
        </p:txBody>
      </p:sp>
      <p:sp>
        <p:nvSpPr>
          <p:cNvPr id="4" name="Slide Number Placeholder 3"/>
          <p:cNvSpPr>
            <a:spLocks noGrp="1"/>
          </p:cNvSpPr>
          <p:nvPr>
            <p:ph type="sldNum" sz="quarter" idx="5"/>
          </p:nvPr>
        </p:nvSpPr>
        <p:spPr/>
        <p:txBody>
          <a:bodyPr/>
          <a:lstStyle/>
          <a:p>
            <a:fld id="{C0222982-4A62-465E-A0C9-B681D1115264}" type="slidenum">
              <a:rPr lang="en-US" smtClean="0"/>
              <a:t>2</a:t>
            </a:fld>
            <a:endParaRPr lang="en-US"/>
          </a:p>
        </p:txBody>
      </p:sp>
    </p:spTree>
    <p:extLst>
      <p:ext uri="{BB962C8B-B14F-4D97-AF65-F5344CB8AC3E}">
        <p14:creationId xmlns:p14="http://schemas.microsoft.com/office/powerpoint/2010/main" val="421784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how did they investigate this? The researchers conducted a retrospective study, meaning they analyzed projects after they were already completed. They reviewed 120 final-year individual design projects from a UK university.</a:t>
            </a:r>
          </a:p>
          <a:p>
            <a:r>
              <a:rPr lang="en-US" sz="1200" b="0" i="0" kern="1200" dirty="0">
                <a:solidFill>
                  <a:schemeClr val="tx1"/>
                </a:solidFill>
                <a:effectLst/>
                <a:latin typeface="+mn-lt"/>
                <a:ea typeface="+mn-ea"/>
                <a:cs typeface="+mn-cs"/>
              </a:rPr>
              <a:t>The projects were a full academic year long, divided into two stages as shown in this timeline. A key part of their analysis was to see if students were prototyping early in 'Stage 1' to explore ideas, or only at the end in 'Stage 2' to validate their final design."</a:t>
            </a: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One thing to note, look at figure 3, that is their timeline for their project, does it look similar to something?</a:t>
            </a:r>
          </a:p>
          <a:p>
            <a:endParaRPr lang="en-CA" dirty="0"/>
          </a:p>
        </p:txBody>
      </p:sp>
      <p:sp>
        <p:nvSpPr>
          <p:cNvPr id="4" name="Slide Number Placeholder 3"/>
          <p:cNvSpPr>
            <a:spLocks noGrp="1"/>
          </p:cNvSpPr>
          <p:nvPr>
            <p:ph type="sldNum" sz="quarter" idx="5"/>
          </p:nvPr>
        </p:nvSpPr>
        <p:spPr/>
        <p:txBody>
          <a:bodyPr/>
          <a:lstStyle/>
          <a:p>
            <a:fld id="{C0222982-4A62-465E-A0C9-B681D1115264}" type="slidenum">
              <a:rPr lang="en-US" smtClean="0"/>
              <a:t>3</a:t>
            </a:fld>
            <a:endParaRPr lang="en-US"/>
          </a:p>
        </p:txBody>
      </p:sp>
    </p:spTree>
    <p:extLst>
      <p:ext uri="{BB962C8B-B14F-4D97-AF65-F5344CB8AC3E}">
        <p14:creationId xmlns:p14="http://schemas.microsoft.com/office/powerpoint/2010/main" val="34782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“Next, To analyze the projects, they developed a detailed framework based on those seven roles. They identified 23 specific, actionable purposes for creating a prototype.</a:t>
            </a:r>
          </a:p>
          <a:p>
            <a:r>
              <a:rPr lang="en-US" sz="1200" b="0" i="0" kern="1200" dirty="0">
                <a:solidFill>
                  <a:schemeClr val="tx1"/>
                </a:solidFill>
                <a:effectLst/>
                <a:latin typeface="+mn-lt"/>
                <a:ea typeface="+mn-ea"/>
                <a:cs typeface="+mn-cs"/>
              </a:rPr>
              <a:t>You don't need to read this whole list, but the point is to show how detailed their analysis was. For every physical model a student built, the researchers went through their report and portfolio to see if it was used to, for example, 'Answer questions about functionality,' which is purpose #1, or 'Enhance ideation,' which is purpose #19. This allowed them to quantify exactly what students were doing."</a:t>
            </a:r>
          </a:p>
        </p:txBody>
      </p:sp>
      <p:sp>
        <p:nvSpPr>
          <p:cNvPr id="4" name="Slide Number Placeholder 3"/>
          <p:cNvSpPr>
            <a:spLocks noGrp="1"/>
          </p:cNvSpPr>
          <p:nvPr>
            <p:ph type="sldNum" sz="quarter" idx="5"/>
          </p:nvPr>
        </p:nvSpPr>
        <p:spPr/>
        <p:txBody>
          <a:bodyPr/>
          <a:lstStyle/>
          <a:p>
            <a:fld id="{C0222982-4A62-465E-A0C9-B681D1115264}" type="slidenum">
              <a:rPr lang="en-US" smtClean="0"/>
              <a:t>4</a:t>
            </a:fld>
            <a:endParaRPr lang="en-US"/>
          </a:p>
        </p:txBody>
      </p:sp>
    </p:spTree>
    <p:extLst>
      <p:ext uri="{BB962C8B-B14F-4D97-AF65-F5344CB8AC3E}">
        <p14:creationId xmlns:p14="http://schemas.microsoft.com/office/powerpoint/2010/main" val="3711314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brings us to the core results, and the findings are really clear. This table shows the usage rate of each purpose across all 120 projects.</a:t>
            </a:r>
          </a:p>
          <a:p>
            <a:r>
              <a:rPr lang="en-US" sz="1200" b="0" i="0" kern="1200" dirty="0">
                <a:solidFill>
                  <a:schemeClr val="tx1"/>
                </a:solidFill>
                <a:effectLst/>
                <a:latin typeface="+mn-lt"/>
                <a:ea typeface="+mn-ea"/>
                <a:cs typeface="+mn-cs"/>
              </a:rPr>
              <a:t>As you can see, students overwhelmingly use prototypes for three main reasons: </a:t>
            </a:r>
            <a:r>
              <a:rPr lang="en-US" sz="1200" b="1" i="0" kern="1200" dirty="0">
                <a:solidFill>
                  <a:schemeClr val="tx1"/>
                </a:solidFill>
                <a:effectLst/>
                <a:latin typeface="+mn-lt"/>
                <a:ea typeface="+mn-ea"/>
                <a:cs typeface="+mn-cs"/>
              </a:rPr>
              <a:t>getting feedback</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validating specifications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answering technical questions</a:t>
            </a:r>
            <a:r>
              <a:rPr lang="en-US" sz="1200" b="0" i="0" kern="1200" dirty="0">
                <a:solidFill>
                  <a:schemeClr val="tx1"/>
                </a:solidFill>
                <a:effectLst/>
                <a:latin typeface="+mn-lt"/>
                <a:ea typeface="+mn-ea"/>
                <a:cs typeface="+mn-cs"/>
              </a:rPr>
              <a:t>. Over 70% of projects used prototypes for these late-stage, validation-focused tasks. This confirms the authors' initial hypothesis: students have a very narrow scope for prototyping.</a:t>
            </a:r>
            <a:br>
              <a:rPr lang="en-US" dirty="0"/>
            </a:br>
            <a:br>
              <a:rPr lang="en-US" dirty="0"/>
            </a:br>
            <a:endParaRPr lang="en-CA" dirty="0"/>
          </a:p>
        </p:txBody>
      </p:sp>
      <p:sp>
        <p:nvSpPr>
          <p:cNvPr id="4" name="Slide Number Placeholder 3"/>
          <p:cNvSpPr>
            <a:spLocks noGrp="1"/>
          </p:cNvSpPr>
          <p:nvPr>
            <p:ph type="sldNum" sz="quarter" idx="5"/>
          </p:nvPr>
        </p:nvSpPr>
        <p:spPr/>
        <p:txBody>
          <a:bodyPr/>
          <a:lstStyle/>
          <a:p>
            <a:fld id="{C0222982-4A62-465E-A0C9-B681D1115264}" type="slidenum">
              <a:rPr lang="en-US" smtClean="0"/>
              <a:t>5</a:t>
            </a:fld>
            <a:endParaRPr lang="en-US"/>
          </a:p>
        </p:txBody>
      </p:sp>
    </p:spTree>
    <p:extLst>
      <p:ext uri="{BB962C8B-B14F-4D97-AF65-F5344CB8AC3E}">
        <p14:creationId xmlns:p14="http://schemas.microsoft.com/office/powerpoint/2010/main" val="845157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"But what's even more telling than what students </a:t>
            </a:r>
            <a:r>
              <a:rPr lang="en-US" sz="1200" b="0" i="1" kern="1200" dirty="0">
                <a:solidFill>
                  <a:schemeClr val="tx1"/>
                </a:solidFill>
                <a:effectLst/>
                <a:latin typeface="+mn-lt"/>
                <a:ea typeface="+mn-ea"/>
                <a:cs typeface="+mn-cs"/>
              </a:rPr>
              <a:t>did</a:t>
            </a:r>
            <a:r>
              <a:rPr lang="en-US" sz="1200" b="0" i="0" kern="1200" dirty="0">
                <a:solidFill>
                  <a:schemeClr val="tx1"/>
                </a:solidFill>
                <a:effectLst/>
                <a:latin typeface="+mn-lt"/>
                <a:ea typeface="+mn-ea"/>
                <a:cs typeface="+mn-cs"/>
              </a:rPr>
              <a:t> use prototypes for, is what they </a:t>
            </a:r>
            <a:r>
              <a:rPr lang="en-US" sz="1200" b="0" i="1" kern="1200" dirty="0">
                <a:solidFill>
                  <a:schemeClr val="tx1"/>
                </a:solidFill>
                <a:effectLst/>
                <a:latin typeface="+mn-lt"/>
                <a:ea typeface="+mn-ea"/>
                <a:cs typeface="+mn-cs"/>
              </a:rPr>
              <a:t>didn't</a:t>
            </a:r>
            <a:r>
              <a:rPr lang="en-US" sz="1200" b="0" i="0" kern="1200" dirty="0">
                <a:solidFill>
                  <a:schemeClr val="tx1"/>
                </a:solidFill>
                <a:effectLst/>
                <a:latin typeface="+mn-lt"/>
                <a:ea typeface="+mn-ea"/>
                <a:cs typeface="+mn-cs"/>
              </a:rPr>
              <a:t>. This slide highlights the many powerful purposes that were almost completely neglected.</a:t>
            </a:r>
          </a:p>
          <a:p>
            <a:r>
              <a:rPr lang="en-US" sz="1200" b="0" i="0" kern="1200" dirty="0">
                <a:solidFill>
                  <a:schemeClr val="tx1"/>
                </a:solidFill>
                <a:effectLst/>
                <a:latin typeface="+mn-lt"/>
                <a:ea typeface="+mn-ea"/>
                <a:cs typeface="+mn-cs"/>
              </a:rPr>
              <a:t>First, let's look at </a:t>
            </a:r>
            <a:r>
              <a:rPr lang="en-US" sz="1200" b="1" i="0" kern="1200" dirty="0">
                <a:solidFill>
                  <a:schemeClr val="tx1"/>
                </a:solidFill>
                <a:effectLst/>
                <a:latin typeface="+mn-lt"/>
                <a:ea typeface="+mn-ea"/>
                <a:cs typeface="+mn-cs"/>
              </a:rPr>
              <a:t>Project Planning</a:t>
            </a:r>
            <a:r>
              <a:rPr lang="en-US" sz="1200" b="0" i="0" kern="1200" dirty="0">
                <a:solidFill>
                  <a:schemeClr val="tx1"/>
                </a:solidFill>
                <a:effectLst/>
                <a:latin typeface="+mn-lt"/>
                <a:ea typeface="+mn-ea"/>
                <a:cs typeface="+mn-cs"/>
              </a:rPr>
              <a:t>. An incredibly low 1.7% of students used prototypes to set milestones and manage their project timeline. This statistic is critical because, as the paper notes, students who failed to build any prototype at all often cited poor time management as the reason. This shows a huge missed opportunity to keep projects on track.</a:t>
            </a:r>
          </a:p>
          <a:p>
            <a:r>
              <a:rPr lang="en-US" sz="1200" b="0" i="0" kern="1200" dirty="0">
                <a:solidFill>
                  <a:schemeClr val="tx1"/>
                </a:solidFill>
                <a:effectLst/>
                <a:latin typeface="+mn-lt"/>
                <a:ea typeface="+mn-ea"/>
                <a:cs typeface="+mn-cs"/>
              </a:rPr>
              <a:t>Next is </a:t>
            </a:r>
            <a:r>
              <a:rPr lang="en-US" sz="1200" b="1" i="0" kern="1200" dirty="0">
                <a:solidFill>
                  <a:schemeClr val="tx1"/>
                </a:solidFill>
                <a:effectLst/>
                <a:latin typeface="+mn-lt"/>
                <a:ea typeface="+mn-ea"/>
                <a:cs typeface="+mn-cs"/>
              </a:rPr>
              <a:t>Exploration and Elicitation</a:t>
            </a:r>
            <a:r>
              <a:rPr lang="en-US" sz="1200" b="0" i="0" kern="1200" dirty="0">
                <a:solidFill>
                  <a:schemeClr val="tx1"/>
                </a:solidFill>
                <a:effectLst/>
                <a:latin typeface="+mn-lt"/>
                <a:ea typeface="+mn-ea"/>
                <a:cs typeface="+mn-cs"/>
              </a:rPr>
              <a:t>. Students rarely used prototypes to discover unknown user requirements or to compare different concepts against each other. The key takeaway here is that they used their models to confirm what they already knew, </a:t>
            </a:r>
            <a:r>
              <a:rPr lang="en-US" sz="1200" b="1" i="0" kern="1200" dirty="0">
                <a:solidFill>
                  <a:schemeClr val="tx1"/>
                </a:solidFill>
                <a:effectLst/>
                <a:latin typeface="+mn-lt"/>
                <a:ea typeface="+mn-ea"/>
                <a:cs typeface="+mn-cs"/>
              </a:rPr>
              <a:t>not to explore new territory</a:t>
            </a:r>
            <a:r>
              <a:rPr lang="en-US" sz="1200" b="0" i="0" kern="1200" dirty="0">
                <a:solidFill>
                  <a:schemeClr val="tx1"/>
                </a:solidFill>
                <a:effectLst/>
                <a:latin typeface="+mn-lt"/>
                <a:ea typeface="+mn-ea"/>
                <a:cs typeface="+mn-cs"/>
              </a:rPr>
              <a:t>. They weren't using prototypes as a tool for discovery.</a:t>
            </a:r>
          </a:p>
          <a:p>
            <a:r>
              <a:rPr lang="en-US" sz="1200" b="0" i="0" kern="1200" dirty="0">
                <a:solidFill>
                  <a:schemeClr val="tx1"/>
                </a:solidFill>
                <a:effectLst/>
                <a:latin typeface="+mn-lt"/>
                <a:ea typeface="+mn-ea"/>
                <a:cs typeface="+mn-cs"/>
              </a:rPr>
              <a:t>And finally, there was a failure to </a:t>
            </a:r>
            <a:r>
              <a:rPr lang="en-US" sz="1200" b="1" i="0" kern="1200" dirty="0">
                <a:solidFill>
                  <a:schemeClr val="tx1"/>
                </a:solidFill>
                <a:effectLst/>
                <a:latin typeface="+mn-lt"/>
                <a:ea typeface="+mn-ea"/>
                <a:cs typeface="+mn-cs"/>
              </a:rPr>
              <a:t>Learn from the Building Process</a:t>
            </a:r>
            <a:r>
              <a:rPr lang="en-US" sz="1200" b="0" i="0" kern="1200" dirty="0">
                <a:solidFill>
                  <a:schemeClr val="tx1"/>
                </a:solidFill>
                <a:effectLst/>
                <a:latin typeface="+mn-lt"/>
                <a:ea typeface="+mn-ea"/>
                <a:cs typeface="+mn-cs"/>
              </a:rPr>
              <a:t> itself. Valuable purposes like 'revealing fabrication errors' or 'gaining insights into manufacturing concerns' were rarely considered, with usage rates of only 14% and 12% respectively. This shows that students tend to focus only on the final outcome, not on the valuable lessons that the act of building can teach them."</a:t>
            </a:r>
          </a:p>
        </p:txBody>
      </p:sp>
      <p:sp>
        <p:nvSpPr>
          <p:cNvPr id="4" name="Slide Number Placeholder 3"/>
          <p:cNvSpPr>
            <a:spLocks noGrp="1"/>
          </p:cNvSpPr>
          <p:nvPr>
            <p:ph type="sldNum" sz="quarter" idx="5"/>
          </p:nvPr>
        </p:nvSpPr>
        <p:spPr/>
        <p:txBody>
          <a:bodyPr/>
          <a:lstStyle/>
          <a:p>
            <a:fld id="{C0222982-4A62-465E-A0C9-B681D1115264}" type="slidenum">
              <a:rPr lang="en-US" smtClean="0"/>
              <a:t>6</a:t>
            </a:fld>
            <a:endParaRPr lang="en-US"/>
          </a:p>
        </p:txBody>
      </p:sp>
    </p:spTree>
    <p:extLst>
      <p:ext uri="{BB962C8B-B14F-4D97-AF65-F5344CB8AC3E}">
        <p14:creationId xmlns:p14="http://schemas.microsoft.com/office/powerpoint/2010/main" val="855055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“Another question they ask is, does this actually matter for grades? The answer is a definitive yes. This graph is the most important finding in the paper. It plots the usage of key purposes against the students' final marks, from the highest-scoring projects in 'Group 1' to the lowest in 'Group 3'.</a:t>
            </a:r>
          </a:p>
          <a:p>
            <a:r>
              <a:rPr lang="en-US" sz="1200" b="0" i="0" kern="1200" dirty="0">
                <a:solidFill>
                  <a:schemeClr val="tx1"/>
                </a:solidFill>
                <a:effectLst/>
                <a:latin typeface="+mn-lt"/>
                <a:ea typeface="+mn-ea"/>
                <a:cs typeface="+mn-cs"/>
              </a:rPr>
              <a:t>The trend is undeniable. This shows a direct correlation between using prototypes for deep, analytical work and achieving a better outcome."</a:t>
            </a:r>
          </a:p>
          <a:p>
            <a:r>
              <a:rPr lang="en-US" sz="1200" b="0" i="0" kern="1200" dirty="0">
                <a:solidFill>
                  <a:schemeClr val="tx1"/>
                </a:solidFill>
                <a:effectLst/>
                <a:latin typeface="+mn-lt"/>
                <a:ea typeface="+mn-ea"/>
                <a:cs typeface="+mn-cs"/>
              </a:rPr>
              <a:t>"This link to success is even clearer when looking at early-stage activities. High-performing students in Group 1 were far more likely to use prototypes to </a:t>
            </a:r>
            <a:r>
              <a:rPr lang="en-US" sz="1200" b="1" i="0" kern="1200" dirty="0">
                <a:solidFill>
                  <a:schemeClr val="tx1"/>
                </a:solidFill>
                <a:effectLst/>
                <a:latin typeface="+mn-lt"/>
                <a:ea typeface="+mn-ea"/>
                <a:cs typeface="+mn-cs"/>
              </a:rPr>
              <a:t>enhance ideation</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compare concepts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shows that prototyping isn't just about proving your final design works. It's about using it as an exploration tool early on to ensure you're heading in the right direction in the first place."</a:t>
            </a:r>
          </a:p>
          <a:p>
            <a:br>
              <a:rPr lang="en-US" dirty="0"/>
            </a:br>
            <a:br>
              <a:rPr lang="en-US" dirty="0"/>
            </a:br>
            <a:endParaRPr lang="en-CA" dirty="0"/>
          </a:p>
        </p:txBody>
      </p:sp>
      <p:sp>
        <p:nvSpPr>
          <p:cNvPr id="4" name="Slide Number Placeholder 3"/>
          <p:cNvSpPr>
            <a:spLocks noGrp="1"/>
          </p:cNvSpPr>
          <p:nvPr>
            <p:ph type="sldNum" sz="quarter" idx="5"/>
          </p:nvPr>
        </p:nvSpPr>
        <p:spPr/>
        <p:txBody>
          <a:bodyPr/>
          <a:lstStyle/>
          <a:p>
            <a:fld id="{C0222982-4A62-465E-A0C9-B681D1115264}" type="slidenum">
              <a:rPr lang="en-US" smtClean="0"/>
              <a:t>7</a:t>
            </a:fld>
            <a:endParaRPr lang="en-US"/>
          </a:p>
        </p:txBody>
      </p:sp>
    </p:spTree>
    <p:extLst>
      <p:ext uri="{BB962C8B-B14F-4D97-AF65-F5344CB8AC3E}">
        <p14:creationId xmlns:p14="http://schemas.microsoft.com/office/powerpoint/2010/main" val="1603202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to summarize the conclusions:</a:t>
            </a:r>
          </a:p>
          <a:p>
            <a:r>
              <a:rPr lang="en-US" sz="1200" b="0" i="0" kern="1200" dirty="0">
                <a:solidFill>
                  <a:schemeClr val="tx1"/>
                </a:solidFill>
                <a:effectLst/>
                <a:latin typeface="+mn-lt"/>
                <a:ea typeface="+mn-ea"/>
                <a:cs typeface="+mn-cs"/>
              </a:rPr>
              <a:t>Students generally have a narrow view of prototyping, seeing it primarily as a </a:t>
            </a:r>
            <a:r>
              <a:rPr lang="en-US" sz="1200" b="1" i="0" kern="1200" dirty="0">
                <a:solidFill>
                  <a:schemeClr val="tx1"/>
                </a:solidFill>
                <a:effectLst/>
                <a:latin typeface="+mn-lt"/>
                <a:ea typeface="+mn-ea"/>
                <a:cs typeface="+mn-cs"/>
              </a:rPr>
              <a:t>final validation tool</a:t>
            </a:r>
            <a:r>
              <a:rPr lang="en-US" sz="1200" b="0" i="0" kern="1200" dirty="0">
                <a:solidFill>
                  <a:schemeClr val="tx1"/>
                </a:solidFill>
                <a:effectLst/>
                <a:latin typeface="+mn-lt"/>
                <a:ea typeface="+mn-ea"/>
                <a:cs typeface="+mn-cs"/>
              </a:rPr>
              <a:t>, not a learning tool for the entire process.</a:t>
            </a:r>
          </a:p>
          <a:p>
            <a:r>
              <a:rPr lang="en-US" sz="1200" b="0" i="0" kern="1200" dirty="0">
                <a:solidFill>
                  <a:schemeClr val="tx1"/>
                </a:solidFill>
                <a:effectLst/>
                <a:latin typeface="+mn-lt"/>
                <a:ea typeface="+mn-ea"/>
                <a:cs typeface="+mn-cs"/>
              </a:rPr>
              <a:t>There is a strong link between academic performance and the use of specific, high-value purposes like testing, data gathering, and concept comparison.</a:t>
            </a:r>
          </a:p>
          <a:p>
            <a:r>
              <a:rPr lang="en-US" sz="1200" b="0" i="0" kern="1200" dirty="0">
                <a:solidFill>
                  <a:schemeClr val="tx1"/>
                </a:solidFill>
                <a:effectLst/>
                <a:latin typeface="+mn-lt"/>
                <a:ea typeface="+mn-ea"/>
                <a:cs typeface="+mn-cs"/>
              </a:rPr>
              <a:t>Next, using prototypes for </a:t>
            </a:r>
            <a:r>
              <a:rPr lang="en-US" sz="1200" b="1" i="0" kern="1200" dirty="0">
                <a:solidFill>
                  <a:schemeClr val="tx1"/>
                </a:solidFill>
                <a:effectLst/>
                <a:latin typeface="+mn-lt"/>
                <a:ea typeface="+mn-ea"/>
                <a:cs typeface="+mn-cs"/>
              </a:rPr>
              <a:t>early-stage exploration</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project planning</a:t>
            </a:r>
            <a:r>
              <a:rPr lang="en-US" sz="1200" b="0" i="0" kern="1200" dirty="0">
                <a:solidFill>
                  <a:schemeClr val="tx1"/>
                </a:solidFill>
                <a:effectLst/>
                <a:latin typeface="+mn-lt"/>
                <a:ea typeface="+mn-ea"/>
                <a:cs typeface="+mn-cs"/>
              </a:rPr>
              <a:t> is a key differentiator for successful projects, but it's a practice that is widely neglected."</a:t>
            </a:r>
          </a:p>
          <a:p>
            <a:r>
              <a:rPr lang="en-US" dirty="0"/>
              <a:t>Finally, to get a good design, we should consider more prototyping purposes</a:t>
            </a:r>
            <a:br>
              <a:rPr lang="en-US" dirty="0"/>
            </a:br>
            <a:br>
              <a:rPr lang="en-US" dirty="0"/>
            </a:br>
            <a:endParaRPr lang="en-CA" dirty="0"/>
          </a:p>
        </p:txBody>
      </p:sp>
      <p:sp>
        <p:nvSpPr>
          <p:cNvPr id="4" name="Slide Number Placeholder 3"/>
          <p:cNvSpPr>
            <a:spLocks noGrp="1"/>
          </p:cNvSpPr>
          <p:nvPr>
            <p:ph type="sldNum" sz="quarter" idx="5"/>
          </p:nvPr>
        </p:nvSpPr>
        <p:spPr/>
        <p:txBody>
          <a:bodyPr/>
          <a:lstStyle/>
          <a:p>
            <a:fld id="{C0222982-4A62-465E-A0C9-B681D1115264}" type="slidenum">
              <a:rPr lang="en-US" smtClean="0"/>
              <a:t>8</a:t>
            </a:fld>
            <a:endParaRPr lang="en-US"/>
          </a:p>
        </p:txBody>
      </p:sp>
    </p:spTree>
    <p:extLst>
      <p:ext uri="{BB962C8B-B14F-4D97-AF65-F5344CB8AC3E}">
        <p14:creationId xmlns:p14="http://schemas.microsoft.com/office/powerpoint/2010/main" val="2483216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for the most important part: what does this mean for us and our MECH 45X-490 projects? This research gives us a direct roadmap for how to improve our own design process.</a:t>
            </a:r>
          </a:p>
          <a:p>
            <a:r>
              <a:rPr lang="en-US" sz="1200" b="0" i="0" kern="1200" dirty="0">
                <a:solidFill>
                  <a:schemeClr val="tx1"/>
                </a:solidFill>
                <a:effectLst/>
                <a:latin typeface="+mn-lt"/>
                <a:ea typeface="+mn-ea"/>
                <a:cs typeface="+mn-cs"/>
              </a:rPr>
              <a:t>We should ask ourselves: What is the explicit purpose of the next model we plan to build? Are we just building it because we feel we </a:t>
            </a:r>
            <a:r>
              <a:rPr lang="en-US" sz="1200" b="0" i="1" kern="1200" dirty="0">
                <a:solidFill>
                  <a:schemeClr val="tx1"/>
                </a:solidFill>
                <a:effectLst/>
                <a:latin typeface="+mn-lt"/>
                <a:ea typeface="+mn-ea"/>
                <a:cs typeface="+mn-cs"/>
              </a:rPr>
              <a:t>should</a:t>
            </a:r>
            <a:r>
              <a:rPr lang="en-US" sz="1200" b="0" i="0" kern="1200" dirty="0">
                <a:solidFill>
                  <a:schemeClr val="tx1"/>
                </a:solidFill>
                <a:effectLst/>
                <a:latin typeface="+mn-lt"/>
                <a:ea typeface="+mn-ea"/>
                <a:cs typeface="+mn-cs"/>
              </a:rPr>
              <a:t>, or are we trying to answer a specific question? Are we using it to reduce risk by testing a key function now, instead of waiting until the end? Are we using it to plan our next steps and manage our time effectively?"</a:t>
            </a:r>
          </a:p>
          <a:p>
            <a:r>
              <a:rPr lang="en-US" sz="1200" b="0" i="0" kern="1200" dirty="0">
                <a:solidFill>
                  <a:schemeClr val="tx1"/>
                </a:solidFill>
                <a:effectLst/>
                <a:latin typeface="+mn-lt"/>
                <a:ea typeface="+mn-ea"/>
                <a:cs typeface="+mn-cs"/>
              </a:rPr>
              <a:t>"Ultimately, this paper has changed my perspective. It encourages a shift in mindset from </a:t>
            </a:r>
            <a:r>
              <a:rPr lang="en-US" sz="1200" b="1" i="0" kern="1200" dirty="0">
                <a:solidFill>
                  <a:schemeClr val="tx1"/>
                </a:solidFill>
                <a:effectLst/>
                <a:latin typeface="+mn-lt"/>
                <a:ea typeface="+mn-ea"/>
                <a:cs typeface="+mn-cs"/>
              </a:rPr>
              <a:t>'Building to Show'</a:t>
            </a:r>
            <a:r>
              <a:rPr lang="en-US" sz="1200" b="0" i="0" kern="1200" dirty="0">
                <a:solidFill>
                  <a:schemeClr val="tx1"/>
                </a:solidFill>
                <a:effectLst/>
                <a:latin typeface="+mn-lt"/>
                <a:ea typeface="+mn-ea"/>
                <a:cs typeface="+mn-cs"/>
              </a:rPr>
              <a:t> to </a:t>
            </a:r>
            <a:r>
              <a:rPr lang="en-US" sz="1200" b="1" i="0" kern="1200" dirty="0">
                <a:solidFill>
                  <a:schemeClr val="tx1"/>
                </a:solidFill>
                <a:effectLst/>
                <a:latin typeface="+mn-lt"/>
                <a:ea typeface="+mn-ea"/>
                <a:cs typeface="+mn-cs"/>
              </a:rPr>
              <a:t>'Building to Learn.'</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prototype isn't just a polished object for the final presentation. It's a thinking tool. A quick, rough model that answers a critical question or reveals a fatal flaw early on is far more valuable to the design process than a perfect-looking model that tells you nothing new. It’s about embracing prototyping as an iterative part of the journey, not just the destination."</a:t>
            </a:r>
          </a:p>
          <a:p>
            <a:endParaRPr lang="en-CA" dirty="0"/>
          </a:p>
        </p:txBody>
      </p:sp>
      <p:sp>
        <p:nvSpPr>
          <p:cNvPr id="4" name="Slide Number Placeholder 3"/>
          <p:cNvSpPr>
            <a:spLocks noGrp="1"/>
          </p:cNvSpPr>
          <p:nvPr>
            <p:ph type="sldNum" sz="quarter" idx="5"/>
          </p:nvPr>
        </p:nvSpPr>
        <p:spPr/>
        <p:txBody>
          <a:bodyPr/>
          <a:lstStyle/>
          <a:p>
            <a:fld id="{C0222982-4A62-465E-A0C9-B681D1115264}" type="slidenum">
              <a:rPr lang="en-US" smtClean="0"/>
              <a:t>9</a:t>
            </a:fld>
            <a:endParaRPr lang="en-US"/>
          </a:p>
        </p:txBody>
      </p:sp>
    </p:spTree>
    <p:extLst>
      <p:ext uri="{BB962C8B-B14F-4D97-AF65-F5344CB8AC3E}">
        <p14:creationId xmlns:p14="http://schemas.microsoft.com/office/powerpoint/2010/main" val="255220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even applies after we graduate, having a mindset of doing a prototype with a purpose allows you to answer the right questions.</a:t>
            </a:r>
          </a:p>
          <a:p>
            <a:r>
              <a:rPr lang="en-US" sz="1200" b="0" i="0" kern="1200" dirty="0">
                <a:solidFill>
                  <a:schemeClr val="tx1"/>
                </a:solidFill>
                <a:effectLst/>
                <a:latin typeface="+mn-lt"/>
                <a:ea typeface="+mn-ea"/>
                <a:cs typeface="+mn-cs"/>
              </a:rPr>
              <a:t>In engineering and design, prototype are essential because it allows us to assess stuff that we missed.</a:t>
            </a:r>
          </a:p>
          <a:p>
            <a:r>
              <a:rPr lang="en-US" sz="1200" b="0" i="0" kern="1200" dirty="0">
                <a:solidFill>
                  <a:schemeClr val="tx1"/>
                </a:solidFill>
                <a:effectLst/>
                <a:latin typeface="+mn-lt"/>
                <a:ea typeface="+mn-ea"/>
                <a:cs typeface="+mn-cs"/>
              </a:rPr>
              <a:t>Before we build, we need to consider their purpose, remember the concept of “purposeful prototyping”. This is a tool to help us become more strategic, more effective, and more purposeful designers. I’d encourage everyone to take a look at this framework when planning the next steps for their own projects."</a:t>
            </a:r>
          </a:p>
        </p:txBody>
      </p:sp>
      <p:sp>
        <p:nvSpPr>
          <p:cNvPr id="4" name="Slide Number Placeholder 3"/>
          <p:cNvSpPr>
            <a:spLocks noGrp="1"/>
          </p:cNvSpPr>
          <p:nvPr>
            <p:ph type="sldNum" sz="quarter" idx="5"/>
          </p:nvPr>
        </p:nvSpPr>
        <p:spPr/>
        <p:txBody>
          <a:bodyPr/>
          <a:lstStyle/>
          <a:p>
            <a:fld id="{C0222982-4A62-465E-A0C9-B681D1115264}" type="slidenum">
              <a:rPr lang="en-US" smtClean="0"/>
              <a:t>10</a:t>
            </a:fld>
            <a:endParaRPr lang="en-US"/>
          </a:p>
        </p:txBody>
      </p:sp>
    </p:spTree>
    <p:extLst>
      <p:ext uri="{BB962C8B-B14F-4D97-AF65-F5344CB8AC3E}">
        <p14:creationId xmlns:p14="http://schemas.microsoft.com/office/powerpoint/2010/main" val="3549489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4EAC4-71CC-D448-6AF6-78337109A5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DF4B16-E3F1-7246-2909-3CDAF85C10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42F3E5-4CDB-74A8-6EB8-CAAA9E4ED254}"/>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5" name="Footer Placeholder 4">
            <a:extLst>
              <a:ext uri="{FF2B5EF4-FFF2-40B4-BE49-F238E27FC236}">
                <a16:creationId xmlns:a16="http://schemas.microsoft.com/office/drawing/2014/main" id="{5946BF3C-220A-7AE2-0099-4368FD4AD2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9E9082-56A2-E22A-0152-7AC98F4F221A}"/>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2634142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ECF91-61E7-03ED-F971-596358C953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656A8B-50E2-F8B2-49AE-A064737D5D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F96A3B-0267-CD38-20F6-3DDE0E48E3FA}"/>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5" name="Footer Placeholder 4">
            <a:extLst>
              <a:ext uri="{FF2B5EF4-FFF2-40B4-BE49-F238E27FC236}">
                <a16:creationId xmlns:a16="http://schemas.microsoft.com/office/drawing/2014/main" id="{127A663C-ADBB-B32A-B104-88CBDDCE7D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900F92-8553-D252-6416-3AFBCDEF0812}"/>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3497986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69A45-4809-CB75-EA38-C44C5E99C9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6C804-583F-1818-83F1-468CD96773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51D2BB-A4F4-99F2-0861-A4880A0CAF80}"/>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5" name="Footer Placeholder 4">
            <a:extLst>
              <a:ext uri="{FF2B5EF4-FFF2-40B4-BE49-F238E27FC236}">
                <a16:creationId xmlns:a16="http://schemas.microsoft.com/office/drawing/2014/main" id="{6055CD9C-C1F9-5948-1922-024CD3254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352EE-53C6-BF70-2D2B-C1BC07B8C4A0}"/>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3426732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08BC0-4B05-4407-82B3-E0ECF3F627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AB6194-8F96-FE3B-7438-5EF78C62ED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4A4BA1-16EE-B43E-02B9-E526A0777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0FE934-192D-3CA7-B9D0-7E62A25DF872}"/>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6" name="Footer Placeholder 5">
            <a:extLst>
              <a:ext uri="{FF2B5EF4-FFF2-40B4-BE49-F238E27FC236}">
                <a16:creationId xmlns:a16="http://schemas.microsoft.com/office/drawing/2014/main" id="{D4ADB0F9-7BBB-EBAE-8F1E-7405154BF8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20B1F0-4194-1A48-4DE4-16B78BB8EC21}"/>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1005182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46483-A56D-B7AD-F5CE-4D91C9479D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0563D5-364B-B08F-7B3B-891AD15D43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2E8CD3-640E-43D7-AA3E-D815FFAA20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84449B-F3FA-32EA-054F-3EA07796F5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6CD526-3E86-8646-539C-7303B05D87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AA51B7F-67B8-9C12-E5C1-D0621F45EA32}"/>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8" name="Footer Placeholder 7">
            <a:extLst>
              <a:ext uri="{FF2B5EF4-FFF2-40B4-BE49-F238E27FC236}">
                <a16:creationId xmlns:a16="http://schemas.microsoft.com/office/drawing/2014/main" id="{3F5CB0FA-7919-650F-258C-5F1DF05B91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5999DD-73CF-2686-59FC-C6E7E98251FE}"/>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346090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EE330-7DDC-93D1-B13E-DB3B384E0C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C3AA0A-9155-048D-4F1A-603098280D8E}"/>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4" name="Footer Placeholder 3">
            <a:extLst>
              <a:ext uri="{FF2B5EF4-FFF2-40B4-BE49-F238E27FC236}">
                <a16:creationId xmlns:a16="http://schemas.microsoft.com/office/drawing/2014/main" id="{8C8E5F5C-60C6-5E24-763F-33602B45C3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2F1F1B-9261-A3F3-03B7-319AD8B75B9D}"/>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192889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A4AC01-E24E-D056-1B87-79382DCD7DD5}"/>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3" name="Footer Placeholder 2">
            <a:extLst>
              <a:ext uri="{FF2B5EF4-FFF2-40B4-BE49-F238E27FC236}">
                <a16:creationId xmlns:a16="http://schemas.microsoft.com/office/drawing/2014/main" id="{FE056AB4-7BF5-D604-38A0-702D67FB13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8597CE-9ED8-08B2-E67A-D06AEB2BA5E8}"/>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968230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60A9-D7FB-3278-43C8-C158255714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207193-F553-46A2-7901-CF357C0539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0A601D-F9BC-03CA-2BD7-CCB753C565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FD42A9-9CE3-0F89-42B6-5A2CD1801A57}"/>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6" name="Footer Placeholder 5">
            <a:extLst>
              <a:ext uri="{FF2B5EF4-FFF2-40B4-BE49-F238E27FC236}">
                <a16:creationId xmlns:a16="http://schemas.microsoft.com/office/drawing/2014/main" id="{6C3F1AF6-2F63-AB31-EAA6-16CD5FE57E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5C0835-8964-DE45-8D34-75A1BBE189DF}"/>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427944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200D0-812D-EC13-08C2-CFA97F725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97196D-EE80-341A-3696-F9E1A66DE6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84CCC4-5A5D-F2C7-2C30-02372D6317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C64976-21C0-E229-8F2E-B251EB060F04}"/>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6" name="Footer Placeholder 5">
            <a:extLst>
              <a:ext uri="{FF2B5EF4-FFF2-40B4-BE49-F238E27FC236}">
                <a16:creationId xmlns:a16="http://schemas.microsoft.com/office/drawing/2014/main" id="{50BB6191-B1A6-A685-8D85-9AABD7CA8E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C6AF0-9BA3-AD59-BB49-633316350D26}"/>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695821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B8FBC-17E0-635D-A204-392119CD61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EE24D0-D98B-FFEF-C718-E4DE27E32B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025657-26B0-AF5A-2C7C-BCB1810329CE}"/>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5" name="Footer Placeholder 4">
            <a:extLst>
              <a:ext uri="{FF2B5EF4-FFF2-40B4-BE49-F238E27FC236}">
                <a16:creationId xmlns:a16="http://schemas.microsoft.com/office/drawing/2014/main" id="{159BF3F2-4CFE-39DD-CA5A-E261E2A88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6DF086-D150-2931-473C-73E3D6E92930}"/>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1768665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54D236-3296-2BF1-81F3-D7FEE6FF6A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1791AA-41D5-0E6D-2BD7-D8AA48BBF6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92468-2B6E-6443-9975-FFF23F5E44AC}"/>
              </a:ext>
            </a:extLst>
          </p:cNvPr>
          <p:cNvSpPr>
            <a:spLocks noGrp="1"/>
          </p:cNvSpPr>
          <p:nvPr>
            <p:ph type="dt" sz="half" idx="10"/>
          </p:nvPr>
        </p:nvSpPr>
        <p:spPr/>
        <p:txBody>
          <a:bodyPr/>
          <a:lstStyle/>
          <a:p>
            <a:fld id="{4FDCE6F7-B5D1-4256-B200-A0B9CA96714D}" type="datetimeFigureOut">
              <a:rPr lang="en-US" smtClean="0"/>
              <a:t>11/13/2025</a:t>
            </a:fld>
            <a:endParaRPr lang="en-US"/>
          </a:p>
        </p:txBody>
      </p:sp>
      <p:sp>
        <p:nvSpPr>
          <p:cNvPr id="5" name="Footer Placeholder 4">
            <a:extLst>
              <a:ext uri="{FF2B5EF4-FFF2-40B4-BE49-F238E27FC236}">
                <a16:creationId xmlns:a16="http://schemas.microsoft.com/office/drawing/2014/main" id="{28EBB14D-BAC0-5FFE-C582-0DA1FC222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80FD36-CD21-9AE6-77DC-2B2142C0B2C1}"/>
              </a:ext>
            </a:extLst>
          </p:cNvPr>
          <p:cNvSpPr>
            <a:spLocks noGrp="1"/>
          </p:cNvSpPr>
          <p:nvPr>
            <p:ph type="sldNum" sz="quarter" idx="12"/>
          </p:nvPr>
        </p:nvSpPr>
        <p:spPr/>
        <p:txBody>
          <a:bodyPr/>
          <a:lstStyle/>
          <a:p>
            <a:fld id="{49775217-FE49-4E68-B874-C6B2A71CB524}" type="slidenum">
              <a:rPr lang="en-US" smtClean="0"/>
              <a:t>‹#›</a:t>
            </a:fld>
            <a:endParaRPr lang="en-US"/>
          </a:p>
        </p:txBody>
      </p:sp>
    </p:spTree>
    <p:extLst>
      <p:ext uri="{BB962C8B-B14F-4D97-AF65-F5344CB8AC3E}">
        <p14:creationId xmlns:p14="http://schemas.microsoft.com/office/powerpoint/2010/main" val="2680604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5C4ECF-8A6C-2CAA-E023-5EA5B4F18C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166E11-5886-64D5-F05F-15302F0F27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35BC51-411F-C92B-EEAB-8ADA7578D0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DCE6F7-B5D1-4256-B200-A0B9CA96714D}" type="datetimeFigureOut">
              <a:rPr lang="en-US" smtClean="0"/>
              <a:t>11/13/2025</a:t>
            </a:fld>
            <a:endParaRPr lang="en-US"/>
          </a:p>
        </p:txBody>
      </p:sp>
      <p:sp>
        <p:nvSpPr>
          <p:cNvPr id="5" name="Footer Placeholder 4">
            <a:extLst>
              <a:ext uri="{FF2B5EF4-FFF2-40B4-BE49-F238E27FC236}">
                <a16:creationId xmlns:a16="http://schemas.microsoft.com/office/drawing/2014/main" id="{FCA11C73-FD6D-00F5-B5DC-949FFFFF1E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305C87-70F5-D22F-82B9-A688822A8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775217-FE49-4E68-B874-C6B2A71CB524}" type="slidenum">
              <a:rPr lang="en-US" smtClean="0"/>
              <a:t>‹#›</a:t>
            </a:fld>
            <a:endParaRPr lang="en-US"/>
          </a:p>
        </p:txBody>
      </p:sp>
    </p:spTree>
    <p:extLst>
      <p:ext uri="{BB962C8B-B14F-4D97-AF65-F5344CB8AC3E}">
        <p14:creationId xmlns:p14="http://schemas.microsoft.com/office/powerpoint/2010/main" val="280587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i.org/10.1017/dsj.2021.6"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F883-4265-E28F-8AA7-186AA915529F}"/>
              </a:ext>
            </a:extLst>
          </p:cNvPr>
          <p:cNvSpPr>
            <a:spLocks noGrp="1"/>
          </p:cNvSpPr>
          <p:nvPr>
            <p:ph type="ctrTitle"/>
          </p:nvPr>
        </p:nvSpPr>
        <p:spPr/>
        <p:txBody>
          <a:bodyPr/>
          <a:lstStyle/>
          <a:p>
            <a:r>
              <a:rPr lang="en-US" dirty="0"/>
              <a:t>Critical Function Prototyping and Concept Refinement</a:t>
            </a:r>
          </a:p>
        </p:txBody>
      </p:sp>
      <p:sp>
        <p:nvSpPr>
          <p:cNvPr id="3" name="Subtitle 2">
            <a:extLst>
              <a:ext uri="{FF2B5EF4-FFF2-40B4-BE49-F238E27FC236}">
                <a16:creationId xmlns:a16="http://schemas.microsoft.com/office/drawing/2014/main" id="{71845432-069E-B2AB-F131-4AE2470D0021}"/>
              </a:ext>
            </a:extLst>
          </p:cNvPr>
          <p:cNvSpPr>
            <a:spLocks noGrp="1"/>
          </p:cNvSpPr>
          <p:nvPr>
            <p:ph type="subTitle" idx="1"/>
          </p:nvPr>
        </p:nvSpPr>
        <p:spPr/>
        <p:txBody>
          <a:bodyPr>
            <a:normAutofit fontScale="92500" lnSpcReduction="10000"/>
          </a:bodyPr>
          <a:lstStyle/>
          <a:p>
            <a:r>
              <a:rPr lang="en-US" dirty="0"/>
              <a:t>November 13</a:t>
            </a:r>
            <a:r>
              <a:rPr lang="en-US" baseline="30000" dirty="0"/>
              <a:t>th</a:t>
            </a:r>
            <a:r>
              <a:rPr lang="en-US" dirty="0"/>
              <a:t> 2025</a:t>
            </a:r>
          </a:p>
          <a:p>
            <a:pPr algn="l"/>
            <a:r>
              <a:rPr lang="en-US" dirty="0"/>
              <a:t>Paper: K. Petrakis, A. Wodehouse, and A. Hird, “Physical prototyping rationale in design student projects: an analysis based on the concept of purposeful prototyping,” </a:t>
            </a:r>
            <a:r>
              <a:rPr lang="en-US" i="1" dirty="0"/>
              <a:t>Design Science</a:t>
            </a:r>
            <a:r>
              <a:rPr lang="en-US" dirty="0"/>
              <a:t>, vol. 7, p. e7, Jan. 2021, </a:t>
            </a:r>
            <a:r>
              <a:rPr lang="en-US" dirty="0" err="1"/>
              <a:t>doi</a:t>
            </a:r>
            <a:r>
              <a:rPr lang="en-US" dirty="0"/>
              <a:t>: </a:t>
            </a:r>
            <a:r>
              <a:rPr lang="en-US" dirty="0">
                <a:hlinkClick r:id="rId3"/>
              </a:rPr>
              <a:t>10.1017/dsj.2021.6</a:t>
            </a:r>
            <a:r>
              <a:rPr lang="en-US" dirty="0"/>
              <a:t>.</a:t>
            </a:r>
          </a:p>
          <a:p>
            <a:endParaRPr lang="en-US" dirty="0"/>
          </a:p>
        </p:txBody>
      </p:sp>
    </p:spTree>
    <p:extLst>
      <p:ext uri="{BB962C8B-B14F-4D97-AF65-F5344CB8AC3E}">
        <p14:creationId xmlns:p14="http://schemas.microsoft.com/office/powerpoint/2010/main" val="1012011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03565-B6BA-C98E-7F31-0733ACC3D14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31737AAE-1CDC-D694-1E37-1470D3203765}"/>
              </a:ext>
            </a:extLst>
          </p:cNvPr>
          <p:cNvSpPr>
            <a:spLocks noGrp="1"/>
          </p:cNvSpPr>
          <p:nvPr>
            <p:ph idx="1"/>
          </p:nvPr>
        </p:nvSpPr>
        <p:spPr/>
        <p:txBody>
          <a:bodyPr>
            <a:normAutofit/>
          </a:bodyPr>
          <a:lstStyle/>
          <a:p>
            <a:r>
              <a:rPr lang="en-US" sz="2400" dirty="0"/>
              <a:t>Prototyping is a critical and integral part of design education</a:t>
            </a:r>
          </a:p>
          <a:p>
            <a:r>
              <a:rPr lang="en-US" sz="2400" dirty="0"/>
              <a:t>Prototype boost creativity, aid concept evaluation, and improve final outcomes.</a:t>
            </a:r>
          </a:p>
          <a:p>
            <a:r>
              <a:rPr lang="en-US" sz="2400" dirty="0"/>
              <a:t>Research Question: How effective is prototypes being used to improve engineering design?</a:t>
            </a:r>
          </a:p>
          <a:p>
            <a:r>
              <a:rPr lang="en-US" sz="2400" dirty="0"/>
              <a:t>Hypothesis: Students often </a:t>
            </a:r>
            <a:r>
              <a:rPr lang="en-US" sz="2400" b="1" dirty="0"/>
              <a:t>underutilize prototypes</a:t>
            </a:r>
            <a:r>
              <a:rPr lang="en-US" sz="2400" dirty="0"/>
              <a:t>.</a:t>
            </a:r>
          </a:p>
          <a:p>
            <a:r>
              <a:rPr lang="en-US" sz="2400" dirty="0"/>
              <a:t>To address this, author introduces “purposeful prototyping” </a:t>
            </a:r>
          </a:p>
        </p:txBody>
      </p:sp>
    </p:spTree>
    <p:extLst>
      <p:ext uri="{BB962C8B-B14F-4D97-AF65-F5344CB8AC3E}">
        <p14:creationId xmlns:p14="http://schemas.microsoft.com/office/powerpoint/2010/main" val="43410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AECE0-6A2A-4419-11E4-F28EB0F99589}"/>
              </a:ext>
            </a:extLst>
          </p:cNvPr>
          <p:cNvSpPr>
            <a:spLocks noGrp="1"/>
          </p:cNvSpPr>
          <p:nvPr>
            <p:ph type="title"/>
          </p:nvPr>
        </p:nvSpPr>
        <p:spPr/>
        <p:txBody>
          <a:bodyPr/>
          <a:lstStyle/>
          <a:p>
            <a:r>
              <a:rPr lang="en-US" dirty="0"/>
              <a:t>Method</a:t>
            </a:r>
          </a:p>
        </p:txBody>
      </p:sp>
      <p:sp>
        <p:nvSpPr>
          <p:cNvPr id="3" name="Content Placeholder 2">
            <a:extLst>
              <a:ext uri="{FF2B5EF4-FFF2-40B4-BE49-F238E27FC236}">
                <a16:creationId xmlns:a16="http://schemas.microsoft.com/office/drawing/2014/main" id="{A36E5A0E-0464-A894-3405-B4DD667EDC4F}"/>
              </a:ext>
            </a:extLst>
          </p:cNvPr>
          <p:cNvSpPr>
            <a:spLocks noGrp="1"/>
          </p:cNvSpPr>
          <p:nvPr>
            <p:ph idx="1"/>
          </p:nvPr>
        </p:nvSpPr>
        <p:spPr>
          <a:xfrm>
            <a:off x="838200" y="1825625"/>
            <a:ext cx="6597580" cy="4351338"/>
          </a:xfrm>
        </p:spPr>
        <p:txBody>
          <a:bodyPr>
            <a:normAutofit/>
          </a:bodyPr>
          <a:lstStyle/>
          <a:p>
            <a:r>
              <a:rPr lang="en-US" sz="2400" b="1" dirty="0"/>
              <a:t>Data Source:</a:t>
            </a:r>
            <a:r>
              <a:rPr lang="en-US" sz="2400" dirty="0"/>
              <a:t> </a:t>
            </a:r>
            <a:r>
              <a:rPr lang="en-US" sz="2400" b="1" dirty="0"/>
              <a:t>133 individual student design projects</a:t>
            </a:r>
            <a:r>
              <a:rPr lang="en-US" sz="2400" dirty="0"/>
              <a:t> from three different undergraduate courses (Product Design Engineering, Sports Engineering, Product Design &amp; Innovation). </a:t>
            </a:r>
          </a:p>
          <a:p>
            <a:r>
              <a:rPr lang="en-US" sz="2400" dirty="0"/>
              <a:t>The analysis focused on the </a:t>
            </a:r>
            <a:r>
              <a:rPr lang="en-US" sz="2400" b="1" dirty="0"/>
              <a:t>120 projects</a:t>
            </a:r>
            <a:r>
              <a:rPr lang="en-US" sz="2400" dirty="0"/>
              <a:t> that included physical prototypes.</a:t>
            </a:r>
          </a:p>
          <a:p>
            <a:r>
              <a:rPr lang="en-US" sz="2400" b="1" dirty="0"/>
              <a:t>Data Collection:</a:t>
            </a:r>
            <a:r>
              <a:rPr lang="en-US" sz="2400" dirty="0"/>
              <a:t> For each of the 120 projects, they performed an in-depth review of the final </a:t>
            </a:r>
            <a:r>
              <a:rPr lang="en-US" sz="2400" b="1" dirty="0"/>
              <a:t>project reports</a:t>
            </a:r>
            <a:r>
              <a:rPr lang="en-US" sz="2400" dirty="0"/>
              <a:t> and </a:t>
            </a:r>
            <a:r>
              <a:rPr lang="en-US" sz="2400" b="1" dirty="0"/>
              <a:t>design portfolios</a:t>
            </a:r>
            <a:r>
              <a:rPr lang="en-US" sz="2400" dirty="0"/>
              <a:t>.</a:t>
            </a:r>
          </a:p>
          <a:p>
            <a:endParaRPr lang="en-US" dirty="0"/>
          </a:p>
        </p:txBody>
      </p:sp>
      <p:pic>
        <p:nvPicPr>
          <p:cNvPr id="5" name="Picture 4">
            <a:extLst>
              <a:ext uri="{FF2B5EF4-FFF2-40B4-BE49-F238E27FC236}">
                <a16:creationId xmlns:a16="http://schemas.microsoft.com/office/drawing/2014/main" id="{0CA65293-A6FE-0EFE-A494-5139C5F79219}"/>
              </a:ext>
            </a:extLst>
          </p:cNvPr>
          <p:cNvPicPr>
            <a:picLocks noChangeAspect="1"/>
          </p:cNvPicPr>
          <p:nvPr/>
        </p:nvPicPr>
        <p:blipFill>
          <a:blip r:embed="rId3"/>
          <a:stretch>
            <a:fillRect/>
          </a:stretch>
        </p:blipFill>
        <p:spPr>
          <a:xfrm>
            <a:off x="7610040" y="2756528"/>
            <a:ext cx="4485369" cy="3736347"/>
          </a:xfrm>
          <a:prstGeom prst="rect">
            <a:avLst/>
          </a:prstGeom>
        </p:spPr>
      </p:pic>
      <p:pic>
        <p:nvPicPr>
          <p:cNvPr id="4" name="Picture 3">
            <a:extLst>
              <a:ext uri="{FF2B5EF4-FFF2-40B4-BE49-F238E27FC236}">
                <a16:creationId xmlns:a16="http://schemas.microsoft.com/office/drawing/2014/main" id="{779DEEB6-DE64-8948-E53C-4CC9D373D370}"/>
              </a:ext>
            </a:extLst>
          </p:cNvPr>
          <p:cNvPicPr>
            <a:picLocks noChangeAspect="1"/>
          </p:cNvPicPr>
          <p:nvPr/>
        </p:nvPicPr>
        <p:blipFill>
          <a:blip r:embed="rId4"/>
          <a:stretch>
            <a:fillRect/>
          </a:stretch>
        </p:blipFill>
        <p:spPr>
          <a:xfrm>
            <a:off x="7442539" y="59037"/>
            <a:ext cx="4652870" cy="2094185"/>
          </a:xfrm>
          <a:prstGeom prst="rect">
            <a:avLst/>
          </a:prstGeom>
        </p:spPr>
      </p:pic>
    </p:spTree>
    <p:extLst>
      <p:ext uri="{BB962C8B-B14F-4D97-AF65-F5344CB8AC3E}">
        <p14:creationId xmlns:p14="http://schemas.microsoft.com/office/powerpoint/2010/main" val="2844356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45C8A-DF09-A172-4CEC-79C0B2924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2E0EE-C418-F291-40B9-14D5265B6BBC}"/>
              </a:ext>
            </a:extLst>
          </p:cNvPr>
          <p:cNvSpPr>
            <a:spLocks noGrp="1"/>
          </p:cNvSpPr>
          <p:nvPr>
            <p:ph type="title"/>
          </p:nvPr>
        </p:nvSpPr>
        <p:spPr/>
        <p:txBody>
          <a:bodyPr/>
          <a:lstStyle/>
          <a:p>
            <a:r>
              <a:rPr lang="en-US" dirty="0"/>
              <a:t>Method (</a:t>
            </a:r>
            <a:r>
              <a:rPr lang="en-US" dirty="0" err="1"/>
              <a:t>Cont</a:t>
            </a:r>
            <a:r>
              <a:rPr lang="en-US" dirty="0"/>
              <a:t>)</a:t>
            </a:r>
          </a:p>
        </p:txBody>
      </p:sp>
      <p:sp>
        <p:nvSpPr>
          <p:cNvPr id="3" name="Content Placeholder 2">
            <a:extLst>
              <a:ext uri="{FF2B5EF4-FFF2-40B4-BE49-F238E27FC236}">
                <a16:creationId xmlns:a16="http://schemas.microsoft.com/office/drawing/2014/main" id="{3CF1FDF3-1BF0-BDF5-297B-4D42729FF96D}"/>
              </a:ext>
            </a:extLst>
          </p:cNvPr>
          <p:cNvSpPr>
            <a:spLocks noGrp="1"/>
          </p:cNvSpPr>
          <p:nvPr>
            <p:ph idx="1"/>
          </p:nvPr>
        </p:nvSpPr>
        <p:spPr>
          <a:xfrm>
            <a:off x="838200" y="1825625"/>
            <a:ext cx="7066935" cy="4351338"/>
          </a:xfrm>
        </p:spPr>
        <p:txBody>
          <a:bodyPr>
            <a:noAutofit/>
          </a:bodyPr>
          <a:lstStyle/>
          <a:p>
            <a:r>
              <a:rPr lang="en-US" sz="2400" b="1" dirty="0"/>
              <a:t>Analysis Process:</a:t>
            </a:r>
            <a:endParaRPr lang="en-US" sz="2400" dirty="0"/>
          </a:p>
          <a:p>
            <a:pPr lvl="1"/>
            <a:r>
              <a:rPr lang="en-US" sz="2000" dirty="0"/>
              <a:t>Identified every instance of a physical prototype created by the students.</a:t>
            </a:r>
          </a:p>
          <a:p>
            <a:pPr lvl="1"/>
            <a:r>
              <a:rPr lang="en-US" sz="2000" dirty="0"/>
              <a:t>Analyzed the students' written rationale, quotes, and visual evidence to determine the </a:t>
            </a:r>
            <a:r>
              <a:rPr lang="en-US" sz="2000" b="1" dirty="0"/>
              <a:t>purpose</a:t>
            </a:r>
            <a:r>
              <a:rPr lang="en-US" sz="2000" dirty="0"/>
              <a:t> of each prototype.</a:t>
            </a:r>
          </a:p>
          <a:p>
            <a:pPr lvl="1"/>
            <a:r>
              <a:rPr lang="en-US" sz="2000" dirty="0"/>
              <a:t>Classification was done using a pre-defined list of </a:t>
            </a:r>
            <a:r>
              <a:rPr lang="en-US" sz="2000" b="1" dirty="0"/>
              <a:t>23 distinct prototyping purposes</a:t>
            </a:r>
            <a:endParaRPr lang="en-US" sz="2000" dirty="0"/>
          </a:p>
          <a:p>
            <a:pPr lvl="1"/>
            <a:r>
              <a:rPr lang="en-US" sz="2000" dirty="0"/>
              <a:t>They noted </a:t>
            </a:r>
            <a:r>
              <a:rPr lang="en-US" sz="2000" i="1" dirty="0"/>
              <a:t>when</a:t>
            </a:r>
            <a:r>
              <a:rPr lang="en-US" sz="2000" dirty="0"/>
              <a:t> prototyping occurred (early "Stage 1" vs. later "Stage 2") and how extensively each of the 23 purposes was used.</a:t>
            </a:r>
          </a:p>
          <a:p>
            <a:pPr lvl="1"/>
            <a:r>
              <a:rPr lang="en-US" sz="2000" dirty="0"/>
              <a:t>Crucially, they correlated their findings with the students' </a:t>
            </a:r>
            <a:r>
              <a:rPr lang="en-US" sz="2000" b="1" dirty="0"/>
              <a:t>final academic grade</a:t>
            </a:r>
            <a:r>
              <a:rPr lang="en-US" sz="2000" dirty="0"/>
              <a:t> for the project to see if the use of specific prototyping purposes was linked to higher performance.</a:t>
            </a:r>
          </a:p>
        </p:txBody>
      </p:sp>
      <p:pic>
        <p:nvPicPr>
          <p:cNvPr id="4" name="Content Placeholder 4">
            <a:extLst>
              <a:ext uri="{FF2B5EF4-FFF2-40B4-BE49-F238E27FC236}">
                <a16:creationId xmlns:a16="http://schemas.microsoft.com/office/drawing/2014/main" id="{3F919771-8034-F574-CE20-FDAF669003E3}"/>
              </a:ext>
            </a:extLst>
          </p:cNvPr>
          <p:cNvPicPr>
            <a:picLocks noChangeAspect="1"/>
          </p:cNvPicPr>
          <p:nvPr/>
        </p:nvPicPr>
        <p:blipFill>
          <a:blip r:embed="rId3"/>
          <a:stretch>
            <a:fillRect/>
          </a:stretch>
        </p:blipFill>
        <p:spPr>
          <a:xfrm>
            <a:off x="7721600" y="1275973"/>
            <a:ext cx="4506907" cy="5216902"/>
          </a:xfrm>
          <a:prstGeom prst="rect">
            <a:avLst/>
          </a:prstGeom>
        </p:spPr>
      </p:pic>
    </p:spTree>
    <p:extLst>
      <p:ext uri="{BB962C8B-B14F-4D97-AF65-F5344CB8AC3E}">
        <p14:creationId xmlns:p14="http://schemas.microsoft.com/office/powerpoint/2010/main" val="355260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822E-EC99-7F92-C943-8B5EF268E95C}"/>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22EB0504-69E4-7BBF-FC79-5BCB86B2F0FD}"/>
              </a:ext>
            </a:extLst>
          </p:cNvPr>
          <p:cNvSpPr>
            <a:spLocks noGrp="1"/>
          </p:cNvSpPr>
          <p:nvPr>
            <p:ph idx="1"/>
          </p:nvPr>
        </p:nvSpPr>
        <p:spPr>
          <a:xfrm>
            <a:off x="838200" y="1825625"/>
            <a:ext cx="5611761" cy="4351338"/>
          </a:xfrm>
        </p:spPr>
        <p:txBody>
          <a:bodyPr>
            <a:normAutofit/>
          </a:bodyPr>
          <a:lstStyle/>
          <a:p>
            <a:r>
              <a:rPr lang="en-US" sz="2600" b="1" dirty="0"/>
              <a:t>Students Have a Narrow Prototyping Scope:</a:t>
            </a:r>
            <a:r>
              <a:rPr lang="en-US" sz="2600" dirty="0"/>
              <a:t> Students overwhelmingly use prototypes for a few "traditional" and late-stage purposes. The most common were:</a:t>
            </a:r>
          </a:p>
          <a:p>
            <a:pPr lvl="1"/>
            <a:r>
              <a:rPr lang="en-US" sz="2000" b="1" dirty="0"/>
              <a:t>Getting feedback</a:t>
            </a:r>
            <a:r>
              <a:rPr lang="en-US" sz="2000" dirty="0"/>
              <a:t> on functionality or aesthetics (84.2%)</a:t>
            </a:r>
          </a:p>
          <a:p>
            <a:pPr lvl="1"/>
            <a:r>
              <a:rPr lang="en-US" sz="2000" b="1" dirty="0"/>
              <a:t>Validating specifications</a:t>
            </a:r>
            <a:r>
              <a:rPr lang="en-US" sz="2000" dirty="0"/>
              <a:t> and defining improvements (82.5%)</a:t>
            </a:r>
          </a:p>
          <a:p>
            <a:pPr lvl="1"/>
            <a:r>
              <a:rPr lang="en-US" sz="2000" dirty="0"/>
              <a:t>Answering questions about </a:t>
            </a:r>
            <a:r>
              <a:rPr lang="en-US" sz="2000" b="1" dirty="0"/>
              <a:t>functionality and technical elements</a:t>
            </a:r>
            <a:r>
              <a:rPr lang="en-US" sz="2000" dirty="0"/>
              <a:t> (71.7%)</a:t>
            </a:r>
          </a:p>
          <a:p>
            <a:endParaRPr lang="en-US" dirty="0"/>
          </a:p>
        </p:txBody>
      </p:sp>
      <p:pic>
        <p:nvPicPr>
          <p:cNvPr id="7" name="Picture 6">
            <a:extLst>
              <a:ext uri="{FF2B5EF4-FFF2-40B4-BE49-F238E27FC236}">
                <a16:creationId xmlns:a16="http://schemas.microsoft.com/office/drawing/2014/main" id="{B53A5F1F-AFB0-DFBF-818B-76A0F88CE606}"/>
              </a:ext>
            </a:extLst>
          </p:cNvPr>
          <p:cNvPicPr>
            <a:picLocks noChangeAspect="1"/>
          </p:cNvPicPr>
          <p:nvPr/>
        </p:nvPicPr>
        <p:blipFill>
          <a:blip r:embed="rId3"/>
          <a:stretch>
            <a:fillRect/>
          </a:stretch>
        </p:blipFill>
        <p:spPr>
          <a:xfrm>
            <a:off x="6449961" y="800785"/>
            <a:ext cx="5546358" cy="5692090"/>
          </a:xfrm>
          <a:prstGeom prst="rect">
            <a:avLst/>
          </a:prstGeom>
        </p:spPr>
      </p:pic>
    </p:spTree>
    <p:extLst>
      <p:ext uri="{BB962C8B-B14F-4D97-AF65-F5344CB8AC3E}">
        <p14:creationId xmlns:p14="http://schemas.microsoft.com/office/powerpoint/2010/main" val="1949869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D3280-B12B-43B3-8562-D9DB8843E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43836-9B58-C108-616B-825C421B01B9}"/>
              </a:ext>
            </a:extLst>
          </p:cNvPr>
          <p:cNvSpPr>
            <a:spLocks noGrp="1"/>
          </p:cNvSpPr>
          <p:nvPr>
            <p:ph type="title"/>
          </p:nvPr>
        </p:nvSpPr>
        <p:spPr/>
        <p:txBody>
          <a:bodyPr/>
          <a:lstStyle/>
          <a:p>
            <a:r>
              <a:rPr lang="en-US" dirty="0"/>
              <a:t>Results (Cont.)</a:t>
            </a:r>
          </a:p>
        </p:txBody>
      </p:sp>
      <p:sp>
        <p:nvSpPr>
          <p:cNvPr id="3" name="Content Placeholder 2">
            <a:extLst>
              <a:ext uri="{FF2B5EF4-FFF2-40B4-BE49-F238E27FC236}">
                <a16:creationId xmlns:a16="http://schemas.microsoft.com/office/drawing/2014/main" id="{6DA56549-17DD-6028-8786-90D52EBBFAB0}"/>
              </a:ext>
            </a:extLst>
          </p:cNvPr>
          <p:cNvSpPr>
            <a:spLocks noGrp="1"/>
          </p:cNvSpPr>
          <p:nvPr>
            <p:ph idx="1"/>
          </p:nvPr>
        </p:nvSpPr>
        <p:spPr>
          <a:xfrm>
            <a:off x="326572" y="1306286"/>
            <a:ext cx="6580816" cy="5312228"/>
          </a:xfrm>
        </p:spPr>
        <p:txBody>
          <a:bodyPr>
            <a:normAutofit/>
          </a:bodyPr>
          <a:lstStyle/>
          <a:p>
            <a:r>
              <a:rPr lang="en-US" sz="2600" b="1" dirty="0"/>
              <a:t>Many Powerful Purposes are Underused:</a:t>
            </a:r>
            <a:r>
              <a:rPr lang="en-US" sz="2600" dirty="0"/>
              <a:t> </a:t>
            </a:r>
          </a:p>
          <a:p>
            <a:pPr lvl="1"/>
            <a:r>
              <a:rPr lang="en-US" sz="2200" b="1" dirty="0"/>
              <a:t>Project Planning:</a:t>
            </a:r>
            <a:r>
              <a:rPr lang="en-US" sz="2200" dirty="0"/>
              <a:t> Only </a:t>
            </a:r>
            <a:r>
              <a:rPr lang="en-US" sz="2200" b="1" dirty="0"/>
              <a:t>1.7%</a:t>
            </a:r>
            <a:r>
              <a:rPr lang="en-US" sz="2200" dirty="0"/>
              <a:t> used prototypes to set milestones and plan their project timeline</a:t>
            </a:r>
          </a:p>
          <a:p>
            <a:pPr lvl="1"/>
            <a:r>
              <a:rPr lang="en-US" sz="2200" b="1" dirty="0"/>
              <a:t>Exploration &amp; Elicitation:</a:t>
            </a:r>
            <a:r>
              <a:rPr lang="en-US" sz="2200" dirty="0"/>
              <a:t> They rarely used prototypes to discover </a:t>
            </a:r>
            <a:r>
              <a:rPr lang="en-US" sz="2200" i="1" dirty="0"/>
              <a:t>unknown</a:t>
            </a:r>
            <a:r>
              <a:rPr lang="en-US" sz="2200" dirty="0"/>
              <a:t> user requirements, compare concepts, or enhance ideation. They used them to confirm what they already knew, </a:t>
            </a:r>
            <a:r>
              <a:rPr lang="en-US" sz="2200" b="1" dirty="0"/>
              <a:t>not to explore new territory.</a:t>
            </a:r>
          </a:p>
          <a:p>
            <a:pPr lvl="1"/>
            <a:r>
              <a:rPr lang="en-US" sz="2200" b="1" dirty="0"/>
              <a:t>Learning from the Building Process:</a:t>
            </a:r>
            <a:r>
              <a:rPr lang="en-US" sz="2200" dirty="0"/>
              <a:t> Purposes like "revealing fabrication errors" (14%) or gaining insights into "manufacturing concerns" (12%) were rarely considered.</a:t>
            </a:r>
          </a:p>
        </p:txBody>
      </p:sp>
      <p:pic>
        <p:nvPicPr>
          <p:cNvPr id="7" name="Picture 6">
            <a:extLst>
              <a:ext uri="{FF2B5EF4-FFF2-40B4-BE49-F238E27FC236}">
                <a16:creationId xmlns:a16="http://schemas.microsoft.com/office/drawing/2014/main" id="{975EEE29-D4A0-C77A-DFD0-F1AE81C850E5}"/>
              </a:ext>
            </a:extLst>
          </p:cNvPr>
          <p:cNvPicPr>
            <a:picLocks noChangeAspect="1"/>
          </p:cNvPicPr>
          <p:nvPr/>
        </p:nvPicPr>
        <p:blipFill>
          <a:blip r:embed="rId3"/>
          <a:stretch>
            <a:fillRect/>
          </a:stretch>
        </p:blipFill>
        <p:spPr>
          <a:xfrm>
            <a:off x="6907387" y="800785"/>
            <a:ext cx="5088931" cy="5222644"/>
          </a:xfrm>
          <a:prstGeom prst="rect">
            <a:avLst/>
          </a:prstGeom>
        </p:spPr>
      </p:pic>
    </p:spTree>
    <p:extLst>
      <p:ext uri="{BB962C8B-B14F-4D97-AF65-F5344CB8AC3E}">
        <p14:creationId xmlns:p14="http://schemas.microsoft.com/office/powerpoint/2010/main" val="3405419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9016-724D-69D0-844B-1A34598CFD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3E7B6-8347-40AE-1C26-FBE9BE186F83}"/>
              </a:ext>
            </a:extLst>
          </p:cNvPr>
          <p:cNvSpPr>
            <a:spLocks noGrp="1"/>
          </p:cNvSpPr>
          <p:nvPr>
            <p:ph type="title"/>
          </p:nvPr>
        </p:nvSpPr>
        <p:spPr/>
        <p:txBody>
          <a:bodyPr/>
          <a:lstStyle/>
          <a:p>
            <a:r>
              <a:rPr lang="en-US" dirty="0"/>
              <a:t>Results (Cont. 2)</a:t>
            </a:r>
          </a:p>
        </p:txBody>
      </p:sp>
      <p:sp>
        <p:nvSpPr>
          <p:cNvPr id="3" name="Content Placeholder 2">
            <a:extLst>
              <a:ext uri="{FF2B5EF4-FFF2-40B4-BE49-F238E27FC236}">
                <a16:creationId xmlns:a16="http://schemas.microsoft.com/office/drawing/2014/main" id="{EFF26FCD-5FF4-B108-893A-89A8AF5C99A2}"/>
              </a:ext>
            </a:extLst>
          </p:cNvPr>
          <p:cNvSpPr>
            <a:spLocks noGrp="1"/>
          </p:cNvSpPr>
          <p:nvPr>
            <p:ph idx="1"/>
          </p:nvPr>
        </p:nvSpPr>
        <p:spPr>
          <a:xfrm>
            <a:off x="838200" y="1376624"/>
            <a:ext cx="6657870" cy="5255287"/>
          </a:xfrm>
        </p:spPr>
        <p:txBody>
          <a:bodyPr>
            <a:normAutofit fontScale="92500" lnSpcReduction="10000"/>
          </a:bodyPr>
          <a:lstStyle/>
          <a:p>
            <a:r>
              <a:rPr lang="en-US" sz="2600" b="1" dirty="0"/>
              <a:t>A Clear Link to Academic Performance:</a:t>
            </a:r>
            <a:r>
              <a:rPr lang="en-US" sz="2600" dirty="0"/>
              <a:t> There was a strong correlation between the </a:t>
            </a:r>
            <a:r>
              <a:rPr lang="en-US" sz="2600" i="1" dirty="0"/>
              <a:t>types</a:t>
            </a:r>
            <a:r>
              <a:rPr lang="en-US" sz="2600" dirty="0"/>
              <a:t> of purposes used and project success. </a:t>
            </a:r>
          </a:p>
          <a:p>
            <a:r>
              <a:rPr lang="en-US" sz="2600" dirty="0"/>
              <a:t>Most beneficial purposes:</a:t>
            </a:r>
          </a:p>
          <a:p>
            <a:pPr lvl="1"/>
            <a:r>
              <a:rPr lang="en-US" sz="2200" dirty="0"/>
              <a:t>Explaining a concept by </a:t>
            </a:r>
            <a:r>
              <a:rPr lang="en-US" sz="2200" b="1" dirty="0"/>
              <a:t>demonstrating its functionality</a:t>
            </a:r>
            <a:endParaRPr lang="en-US" sz="2200" dirty="0"/>
          </a:p>
          <a:p>
            <a:pPr lvl="1"/>
            <a:r>
              <a:rPr lang="en-US" sz="2200" b="1" dirty="0"/>
              <a:t>identify key performance features</a:t>
            </a:r>
            <a:endParaRPr lang="en-US" sz="2200" dirty="0"/>
          </a:p>
          <a:p>
            <a:pPr lvl="1"/>
            <a:r>
              <a:rPr lang="en-US" sz="2200" b="1" dirty="0"/>
              <a:t>Gathering experimental data</a:t>
            </a:r>
            <a:r>
              <a:rPr lang="en-US" sz="2200" dirty="0"/>
              <a:t> through testing</a:t>
            </a:r>
          </a:p>
          <a:p>
            <a:pPr lvl="1"/>
            <a:r>
              <a:rPr lang="en-US" sz="2200" b="1" dirty="0"/>
              <a:t>Informing concept selection</a:t>
            </a:r>
            <a:r>
              <a:rPr lang="en-US" sz="2200" dirty="0"/>
              <a:t> by creating and comparing multiple prototypes</a:t>
            </a:r>
          </a:p>
          <a:p>
            <a:r>
              <a:rPr lang="en-US" sz="2600" b="1" dirty="0"/>
              <a:t>Early Prototyping is Linked to Success:</a:t>
            </a:r>
            <a:r>
              <a:rPr lang="en-US" sz="2600" dirty="0"/>
              <a:t> Only 12.5% of students prototyped in the early stage of their project</a:t>
            </a:r>
          </a:p>
          <a:p>
            <a:r>
              <a:rPr lang="en-US" sz="2600" dirty="0"/>
              <a:t>Using prototypes for early-stage purposes achieve higher grades. (See Appendix A)</a:t>
            </a:r>
          </a:p>
        </p:txBody>
      </p:sp>
      <p:pic>
        <p:nvPicPr>
          <p:cNvPr id="6" name="Content Placeholder 4">
            <a:extLst>
              <a:ext uri="{FF2B5EF4-FFF2-40B4-BE49-F238E27FC236}">
                <a16:creationId xmlns:a16="http://schemas.microsoft.com/office/drawing/2014/main" id="{306FB4EF-DD00-03CB-4EC9-51005A96777C}"/>
              </a:ext>
            </a:extLst>
          </p:cNvPr>
          <p:cNvPicPr>
            <a:picLocks noChangeAspect="1"/>
          </p:cNvPicPr>
          <p:nvPr/>
        </p:nvPicPr>
        <p:blipFill>
          <a:blip r:embed="rId3"/>
          <a:stretch>
            <a:fillRect/>
          </a:stretch>
        </p:blipFill>
        <p:spPr>
          <a:xfrm>
            <a:off x="7417703" y="1177302"/>
            <a:ext cx="4942927" cy="5200756"/>
          </a:xfrm>
          <a:prstGeom prst="rect">
            <a:avLst/>
          </a:prstGeom>
        </p:spPr>
      </p:pic>
    </p:spTree>
    <p:extLst>
      <p:ext uri="{BB962C8B-B14F-4D97-AF65-F5344CB8AC3E}">
        <p14:creationId xmlns:p14="http://schemas.microsoft.com/office/powerpoint/2010/main" val="98866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AD90A-4904-8752-AECA-E4745DE2D2B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44A9484-21F4-08E4-9B12-0922C86B3499}"/>
              </a:ext>
            </a:extLst>
          </p:cNvPr>
          <p:cNvSpPr>
            <a:spLocks noGrp="1"/>
          </p:cNvSpPr>
          <p:nvPr>
            <p:ph idx="1"/>
          </p:nvPr>
        </p:nvSpPr>
        <p:spPr/>
        <p:txBody>
          <a:bodyPr>
            <a:normAutofit/>
          </a:bodyPr>
          <a:lstStyle/>
          <a:p>
            <a:r>
              <a:rPr lang="en-US" sz="2400" dirty="0"/>
              <a:t>Students tend to view prototyping as a </a:t>
            </a:r>
            <a:r>
              <a:rPr lang="en-US" sz="2400" b="1" dirty="0"/>
              <a:t>validation activity</a:t>
            </a:r>
            <a:r>
              <a:rPr lang="en-US" sz="2400" dirty="0"/>
              <a:t> at the end of a project, rather than a </a:t>
            </a:r>
            <a:r>
              <a:rPr lang="en-US" sz="2400" b="1" dirty="0"/>
              <a:t>learning and exploration tool</a:t>
            </a:r>
            <a:r>
              <a:rPr lang="en-US" sz="2400" dirty="0"/>
              <a:t> to be used throughout</a:t>
            </a:r>
          </a:p>
          <a:p>
            <a:r>
              <a:rPr lang="en-US" sz="2400" dirty="0"/>
              <a:t>This limited perspective prevents us from reaping major benefits, especially in project planning, risk reduction, and early-stage innovation</a:t>
            </a:r>
          </a:p>
          <a:p>
            <a:r>
              <a:rPr lang="en-US" sz="2400" dirty="0"/>
              <a:t>To achieve a good design, we need to consider a broader range of prototyping purposes</a:t>
            </a:r>
          </a:p>
        </p:txBody>
      </p:sp>
    </p:spTree>
    <p:extLst>
      <p:ext uri="{BB962C8B-B14F-4D97-AF65-F5344CB8AC3E}">
        <p14:creationId xmlns:p14="http://schemas.microsoft.com/office/powerpoint/2010/main" val="904579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CC2B3-4A76-54F4-D27D-8B0C727803DF}"/>
              </a:ext>
            </a:extLst>
          </p:cNvPr>
          <p:cNvSpPr>
            <a:spLocks noGrp="1"/>
          </p:cNvSpPr>
          <p:nvPr>
            <p:ph type="title"/>
          </p:nvPr>
        </p:nvSpPr>
        <p:spPr/>
        <p:txBody>
          <a:bodyPr/>
          <a:lstStyle/>
          <a:p>
            <a:r>
              <a:rPr lang="en-US" dirty="0"/>
              <a:t>Reflection &amp; Application</a:t>
            </a:r>
          </a:p>
        </p:txBody>
      </p:sp>
      <p:sp>
        <p:nvSpPr>
          <p:cNvPr id="3" name="Content Placeholder 2">
            <a:extLst>
              <a:ext uri="{FF2B5EF4-FFF2-40B4-BE49-F238E27FC236}">
                <a16:creationId xmlns:a16="http://schemas.microsoft.com/office/drawing/2014/main" id="{1F9D6105-32F8-F850-32E6-8C09AAFC4F8B}"/>
              </a:ext>
            </a:extLst>
          </p:cNvPr>
          <p:cNvSpPr>
            <a:spLocks noGrp="1"/>
          </p:cNvSpPr>
          <p:nvPr>
            <p:ph idx="1"/>
          </p:nvPr>
        </p:nvSpPr>
        <p:spPr/>
        <p:txBody>
          <a:bodyPr>
            <a:normAutofit/>
          </a:bodyPr>
          <a:lstStyle/>
          <a:p>
            <a:r>
              <a:rPr lang="en-US" sz="2400" b="1" dirty="0"/>
              <a:t>Self-Audit:</a:t>
            </a:r>
            <a:r>
              <a:rPr lang="en-US" sz="2400" dirty="0"/>
              <a:t> Look at the prototypes we are planning to build. What is their </a:t>
            </a:r>
            <a:r>
              <a:rPr lang="en-US" sz="2400" i="1" dirty="0"/>
              <a:t>explicit</a:t>
            </a:r>
            <a:r>
              <a:rPr lang="en-US" sz="2400" dirty="0"/>
              <a:t> purpose? Are we just building something to "have a prototype," or are we trying to answer a specific question?</a:t>
            </a:r>
          </a:p>
          <a:p>
            <a:r>
              <a:rPr lang="en-US" sz="2400" b="1" dirty="0"/>
              <a:t>Go Beyond Validation:</a:t>
            </a:r>
            <a:r>
              <a:rPr lang="en-US" sz="2400" dirty="0"/>
              <a:t> Are our prototypes for testing the final design? Could we build a quick, low-fidelity model </a:t>
            </a:r>
            <a:r>
              <a:rPr lang="en-US" sz="2400" i="1" dirty="0"/>
              <a:t>this week</a:t>
            </a:r>
            <a:r>
              <a:rPr lang="en-US" sz="2400" dirty="0"/>
              <a:t> to explore a tricky user interaction (</a:t>
            </a:r>
            <a:r>
              <a:rPr lang="en-US" sz="2400" b="1" dirty="0"/>
              <a:t>Purpose #2</a:t>
            </a:r>
            <a:r>
              <a:rPr lang="en-US" sz="2400" dirty="0"/>
              <a:t>), compare two competing mechanism ideas (</a:t>
            </a:r>
            <a:r>
              <a:rPr lang="en-US" sz="2400" b="1" dirty="0"/>
              <a:t>Purpose #4</a:t>
            </a:r>
            <a:r>
              <a:rPr lang="en-US" sz="2400" dirty="0"/>
              <a:t>), or simply to better understand the scale and feel of your concept in 3D (</a:t>
            </a:r>
            <a:r>
              <a:rPr lang="en-US" sz="2400" b="1" dirty="0"/>
              <a:t>Purpose #15</a:t>
            </a:r>
            <a:r>
              <a:rPr lang="en-US" sz="2400" dirty="0"/>
              <a:t>)?</a:t>
            </a:r>
          </a:p>
          <a:p>
            <a:endParaRPr lang="en-US" sz="2400" dirty="0"/>
          </a:p>
        </p:txBody>
      </p:sp>
    </p:spTree>
    <p:extLst>
      <p:ext uri="{BB962C8B-B14F-4D97-AF65-F5344CB8AC3E}">
        <p14:creationId xmlns:p14="http://schemas.microsoft.com/office/powerpoint/2010/main" val="2237514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023C1-5A22-6107-367A-2FD359BB88AC}"/>
              </a:ext>
            </a:extLst>
          </p:cNvPr>
          <p:cNvSpPr>
            <a:spLocks noGrp="1"/>
          </p:cNvSpPr>
          <p:nvPr>
            <p:ph type="title"/>
          </p:nvPr>
        </p:nvSpPr>
        <p:spPr/>
        <p:txBody>
          <a:bodyPr/>
          <a:lstStyle/>
          <a:p>
            <a:r>
              <a:rPr lang="en-US" dirty="0"/>
              <a:t>Implication to Design and Engineering</a:t>
            </a:r>
          </a:p>
        </p:txBody>
      </p:sp>
      <p:sp>
        <p:nvSpPr>
          <p:cNvPr id="3" name="Content Placeholder 2">
            <a:extLst>
              <a:ext uri="{FF2B5EF4-FFF2-40B4-BE49-F238E27FC236}">
                <a16:creationId xmlns:a16="http://schemas.microsoft.com/office/drawing/2014/main" id="{F20096DC-6530-0A25-CC47-875777519B8D}"/>
              </a:ext>
            </a:extLst>
          </p:cNvPr>
          <p:cNvSpPr>
            <a:spLocks noGrp="1"/>
          </p:cNvSpPr>
          <p:nvPr>
            <p:ph idx="1"/>
          </p:nvPr>
        </p:nvSpPr>
        <p:spPr/>
        <p:txBody>
          <a:bodyPr>
            <a:normAutofit/>
          </a:bodyPr>
          <a:lstStyle/>
          <a:p>
            <a:r>
              <a:rPr lang="en-US" sz="2400" dirty="0"/>
              <a:t>This paper reframes prototyping from being just a </a:t>
            </a:r>
            <a:r>
              <a:rPr lang="en-US" sz="2400" b="1" dirty="0"/>
              <a:t>"proof of work"</a:t>
            </a:r>
            <a:r>
              <a:rPr lang="en-US" sz="2400" dirty="0"/>
              <a:t> to being a </a:t>
            </a:r>
            <a:r>
              <a:rPr lang="en-US" sz="2400" b="1" dirty="0"/>
              <a:t>"method of thinking."</a:t>
            </a:r>
            <a:r>
              <a:rPr lang="en-US" sz="2400" dirty="0"/>
              <a:t> A prototype isn't just the answer; it's a tool to find the right questions.</a:t>
            </a:r>
          </a:p>
          <a:p>
            <a:r>
              <a:rPr lang="en-US" sz="2400" dirty="0"/>
              <a:t>It highlights that the </a:t>
            </a:r>
            <a:r>
              <a:rPr lang="en-US" sz="2400" i="1" dirty="0"/>
              <a:t>process</a:t>
            </a:r>
            <a:r>
              <a:rPr lang="en-US" sz="2400" dirty="0"/>
              <a:t> of building and interacting with a physical object can reveal insights that CAD models or simulations cannot (e.g., unexpected fabrication challenges, ergonomic feel, user confusion).</a:t>
            </a:r>
          </a:p>
          <a:p>
            <a:r>
              <a:rPr lang="en-US" sz="2400" dirty="0"/>
              <a:t>It shows that being strategic and </a:t>
            </a:r>
            <a:r>
              <a:rPr lang="en-US" sz="2400" b="1" dirty="0"/>
              <a:t>purposeful</a:t>
            </a:r>
            <a:r>
              <a:rPr lang="en-US" sz="2400" dirty="0"/>
              <a:t> is as important in the workshop as it is in theoretical analysis.</a:t>
            </a:r>
          </a:p>
        </p:txBody>
      </p:sp>
    </p:spTree>
    <p:extLst>
      <p:ext uri="{BB962C8B-B14F-4D97-AF65-F5344CB8AC3E}">
        <p14:creationId xmlns:p14="http://schemas.microsoft.com/office/powerpoint/2010/main" val="2038085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2473E-F273-2020-DF96-B1B1D98DB8B1}"/>
              </a:ext>
            </a:extLst>
          </p:cNvPr>
          <p:cNvSpPr>
            <a:spLocks noGrp="1"/>
          </p:cNvSpPr>
          <p:nvPr>
            <p:ph type="title"/>
          </p:nvPr>
        </p:nvSpPr>
        <p:spPr>
          <a:xfrm>
            <a:off x="4508679" y="2766218"/>
            <a:ext cx="10515600" cy="1325563"/>
          </a:xfrm>
        </p:spPr>
        <p:txBody>
          <a:bodyPr/>
          <a:lstStyle/>
          <a:p>
            <a:r>
              <a:rPr lang="en-CA" dirty="0"/>
              <a:t>Questions?</a:t>
            </a:r>
          </a:p>
        </p:txBody>
      </p:sp>
    </p:spTree>
    <p:extLst>
      <p:ext uri="{BB962C8B-B14F-4D97-AF65-F5344CB8AC3E}">
        <p14:creationId xmlns:p14="http://schemas.microsoft.com/office/powerpoint/2010/main" val="3434425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38321-5CEC-9666-A329-8695B6EF75D6}"/>
              </a:ext>
            </a:extLst>
          </p:cNvPr>
          <p:cNvSpPr>
            <a:spLocks noGrp="1"/>
          </p:cNvSpPr>
          <p:nvPr>
            <p:ph type="title"/>
          </p:nvPr>
        </p:nvSpPr>
        <p:spPr/>
        <p:txBody>
          <a:bodyPr/>
          <a:lstStyle/>
          <a:p>
            <a:r>
              <a:rPr lang="en-US" dirty="0"/>
              <a:t>Appendix A : Early Prototype Purpose</a:t>
            </a:r>
          </a:p>
        </p:txBody>
      </p:sp>
      <p:sp>
        <p:nvSpPr>
          <p:cNvPr id="9" name="Content Placeholder 8">
            <a:extLst>
              <a:ext uri="{FF2B5EF4-FFF2-40B4-BE49-F238E27FC236}">
                <a16:creationId xmlns:a16="http://schemas.microsoft.com/office/drawing/2014/main" id="{CC4AC19B-7B83-1403-C976-6EFA90CF8FFD}"/>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C56139E0-288D-A1D9-7DC1-302F98110B65}"/>
              </a:ext>
            </a:extLst>
          </p:cNvPr>
          <p:cNvPicPr>
            <a:picLocks noChangeAspect="1"/>
          </p:cNvPicPr>
          <p:nvPr/>
        </p:nvPicPr>
        <p:blipFill>
          <a:blip r:embed="rId2"/>
          <a:stretch>
            <a:fillRect/>
          </a:stretch>
        </p:blipFill>
        <p:spPr>
          <a:xfrm>
            <a:off x="3845243" y="1690687"/>
            <a:ext cx="4133148" cy="4749313"/>
          </a:xfrm>
          <a:prstGeom prst="rect">
            <a:avLst/>
          </a:prstGeom>
        </p:spPr>
      </p:pic>
    </p:spTree>
    <p:extLst>
      <p:ext uri="{BB962C8B-B14F-4D97-AF65-F5344CB8AC3E}">
        <p14:creationId xmlns:p14="http://schemas.microsoft.com/office/powerpoint/2010/main" val="213670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2174</Words>
  <Application>Microsoft Office PowerPoint</Application>
  <PresentationFormat>Widescreen</PresentationFormat>
  <Paragraphs>95</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Critical Function Prototyping and Concept Refinement</vt:lpstr>
      <vt:lpstr>Introduction</vt:lpstr>
      <vt:lpstr>Method</vt:lpstr>
      <vt:lpstr>Method (Cont)</vt:lpstr>
      <vt:lpstr>Results</vt:lpstr>
      <vt:lpstr>Results (Cont.)</vt:lpstr>
      <vt:lpstr>Results (Cont. 2)</vt:lpstr>
      <vt:lpstr>Conclusion</vt:lpstr>
      <vt:lpstr>Reflection &amp; Application</vt:lpstr>
      <vt:lpstr>Implication to Design and Engineering</vt:lpstr>
      <vt:lpstr>Questions?</vt:lpstr>
      <vt:lpstr>Appendix A : Early Prototype Purpose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Nashota</dc:creator>
  <cp:lastModifiedBy>gzesiro@student.ubc.ca</cp:lastModifiedBy>
  <cp:revision>1</cp:revision>
  <dcterms:created xsi:type="dcterms:W3CDTF">2025-10-29T08:18:55Z</dcterms:created>
  <dcterms:modified xsi:type="dcterms:W3CDTF">2025-11-13T22:50:33Z</dcterms:modified>
</cp:coreProperties>
</file>