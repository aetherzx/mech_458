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01168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0" y="0"/>
            <a:ext cx="18288000" cy="2011680"/>
          </a:xfrm>
          <a:prstGeom prst="rect">
            <a:avLst/>
          </a:prstGeom>
          <a:solidFill>
            <a:srgbClr val="0055A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56816"/>
            <a:ext cx="32918400" cy="54864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AIRBUS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ROBOTICS  ·  CAPSTONE 2025–2026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0" y="137160"/>
            <a:ext cx="2194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AIRBUS FLIP TABLE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0" y="1097280"/>
            <a:ext cx="2194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Vertical &amp; Rotational Positioning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0" y="1828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UNIVERSITY OF BRITISH COLUMBIA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Engineering  ·  Team T2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0" y="7772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Kenneth  ·  Gyan  ·  Ryan  ·  Oliver  ·  Mfon  ·  Jordan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723840" y="1188720"/>
            <a:ext cx="1645920" cy="50292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13" name="Text 11"/>
          <p:cNvSpPr/>
          <p:nvPr/>
        </p:nvSpPr>
        <p:spPr>
          <a:xfrm>
            <a:off x="30723840" y="1188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0454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73152" cy="429768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39572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39572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035808"/>
            <a:ext cx="999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CLIENT: AIRBUS ROBOTICS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355848"/>
            <a:ext cx="999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tables are large tabletops (~2.4m × 1.8m) that vertically translate and rotate. They simulate fuselage positions for robots used to drill or install fasteners on an aircraft fuselage at different orientations.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453128"/>
            <a:ext cx="9997440" cy="1005840"/>
          </a:xfrm>
          <a:prstGeom prst="rect">
            <a:avLst/>
          </a:prstGeom>
          <a:solidFill>
            <a:srgbClr val="FFF0F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526280"/>
            <a:ext cx="972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773168"/>
            <a:ext cx="972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flip tables are manually rotated and difficult to operate, limiting throughput and introducing ergonomic risk for operators.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550408"/>
            <a:ext cx="9997440" cy="822960"/>
          </a:xfrm>
          <a:prstGeom prst="rect">
            <a:avLst/>
          </a:prstGeom>
          <a:solidFill>
            <a:srgbClr val="E8F7ED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623560"/>
            <a:ext cx="972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870448"/>
            <a:ext cx="972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flip table to implement automated vertical translation with integrated safety, HMI, and improved ergonomics.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6949440"/>
            <a:ext cx="10454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6995160"/>
            <a:ext cx="73152" cy="40233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705916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705916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 REQUIREMENTS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" y="7699248"/>
            <a:ext cx="9997440" cy="2560320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vertical and rotational motion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safety system &amp; Human-Machine Interface (HMI)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ergonomic design and operator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vertical speed: 0.05 m/s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6 ft clearance under tabletop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load: 1,000 lb  |  Dynamic load: 500 lb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10469880"/>
            <a:ext cx="999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*Rotation downscoped after client discussion — separate detailed design provided.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11338560"/>
            <a:ext cx="1045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11384280"/>
            <a:ext cx="73152" cy="35661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1144828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1144828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 SPECIFICATIONS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088368"/>
          <a:ext cx="9997440" cy="914400"/>
        </p:xfrm>
        <a:graphic>
          <a:graphicData uri="http://schemas.openxmlformats.org/drawingml/2006/table">
            <a:tbl>
              <a:tblPr/>
              <a:tblGrid>
                <a:gridCol w="5498592"/>
                <a:gridCol w="44988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PARAMETER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~2.4 m × 1.8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Under-Table Clearance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 ft (min.)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Load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Load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0.05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E-Stop, Light Curtain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Touchscreen + Physical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provided separately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457200" y="15270480"/>
            <a:ext cx="10454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" y="15316200"/>
            <a:ext cx="73152" cy="411480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39" name="Shape 36"/>
          <p:cNvSpPr/>
          <p:nvPr/>
        </p:nvSpPr>
        <p:spPr>
          <a:xfrm>
            <a:off x="594360" y="1538020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0" name="Text 37"/>
          <p:cNvSpPr/>
          <p:nvPr/>
        </p:nvSpPr>
        <p:spPr>
          <a:xfrm>
            <a:off x="777240" y="1538020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CRITERIA</a:t>
            </a:r>
            <a:endParaRPr lang="en-US" sz="18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6020288"/>
            <a:ext cx="9083040" cy="3291840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457200" y="19751040"/>
            <a:ext cx="1045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457200" y="19796760"/>
            <a:ext cx="73152" cy="155448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44" name="Shape 40"/>
          <p:cNvSpPr/>
          <p:nvPr/>
        </p:nvSpPr>
        <p:spPr>
          <a:xfrm>
            <a:off x="594360" y="1986076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5" name="Text 41"/>
          <p:cNvSpPr/>
          <p:nvPr/>
        </p:nvSpPr>
        <p:spPr>
          <a:xfrm>
            <a:off x="777240" y="1986076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PROCESS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1554480" y="20455128"/>
            <a:ext cx="365760" cy="36576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47" name="Text 43"/>
          <p:cNvSpPr/>
          <p:nvPr/>
        </p:nvSpPr>
        <p:spPr>
          <a:xfrm>
            <a:off x="1554480" y="20455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777240" y="208666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Needs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2697480" y="204734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5E2"/>
                </a:solidFill>
              </a:rPr>
              <a:t>→</a:t>
            </a:r>
            <a:endParaRPr lang="en-US" sz="2200" dirty="0"/>
          </a:p>
        </p:txBody>
      </p:sp>
      <p:sp>
        <p:nvSpPr>
          <p:cNvPr id="50" name="Shape 46"/>
          <p:cNvSpPr/>
          <p:nvPr/>
        </p:nvSpPr>
        <p:spPr>
          <a:xfrm>
            <a:off x="3886200" y="20455128"/>
            <a:ext cx="365760" cy="36576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51" name="Text 47"/>
          <p:cNvSpPr/>
          <p:nvPr/>
        </p:nvSpPr>
        <p:spPr>
          <a:xfrm>
            <a:off x="3886200" y="20455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3108960" y="208666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5029200" y="204734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5E2"/>
                </a:solidFill>
              </a:rPr>
              <a:t>→</a:t>
            </a:r>
            <a:endParaRPr lang="en-US" sz="2200" dirty="0"/>
          </a:p>
        </p:txBody>
      </p:sp>
      <p:sp>
        <p:nvSpPr>
          <p:cNvPr id="54" name="Shape 50"/>
          <p:cNvSpPr/>
          <p:nvPr/>
        </p:nvSpPr>
        <p:spPr>
          <a:xfrm>
            <a:off x="6217920" y="20455128"/>
            <a:ext cx="365760" cy="36576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55" name="Text 51"/>
          <p:cNvSpPr/>
          <p:nvPr/>
        </p:nvSpPr>
        <p:spPr>
          <a:xfrm>
            <a:off x="6217920" y="20455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5440680" y="208666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FEA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7360920" y="204734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5E2"/>
                </a:solidFill>
              </a:rPr>
              <a:t>→</a:t>
            </a:r>
            <a:endParaRPr lang="en-US" sz="2200" dirty="0"/>
          </a:p>
        </p:txBody>
      </p:sp>
      <p:sp>
        <p:nvSpPr>
          <p:cNvPr id="58" name="Shape 54"/>
          <p:cNvSpPr/>
          <p:nvPr/>
        </p:nvSpPr>
        <p:spPr>
          <a:xfrm>
            <a:off x="8549640" y="20455128"/>
            <a:ext cx="365760" cy="36576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59" name="Text 55"/>
          <p:cNvSpPr/>
          <p:nvPr/>
        </p:nvSpPr>
        <p:spPr>
          <a:xfrm>
            <a:off x="8549640" y="20455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7772400" y="208666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050" dirty="0"/>
          </a:p>
        </p:txBody>
      </p:sp>
      <p:sp>
        <p:nvSpPr>
          <p:cNvPr id="61" name="Shape 57"/>
          <p:cNvSpPr/>
          <p:nvPr/>
        </p:nvSpPr>
        <p:spPr>
          <a:xfrm>
            <a:off x="11231880" y="2286000"/>
            <a:ext cx="104546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11231880" y="2331720"/>
            <a:ext cx="73152" cy="67665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63" name="Shape 59"/>
          <p:cNvSpPr/>
          <p:nvPr/>
        </p:nvSpPr>
        <p:spPr>
          <a:xfrm>
            <a:off x="11369040" y="239572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64" name="Text 60"/>
          <p:cNvSpPr/>
          <p:nvPr/>
        </p:nvSpPr>
        <p:spPr>
          <a:xfrm>
            <a:off x="11551920" y="239572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CAD ASSEMBLY</a:t>
            </a:r>
            <a:endParaRPr lang="en-US" sz="1800" dirty="0"/>
          </a:p>
        </p:txBody>
      </p:sp>
      <p:sp>
        <p:nvSpPr>
          <p:cNvPr id="65" name="Shape 61"/>
          <p:cNvSpPr/>
          <p:nvPr/>
        </p:nvSpPr>
        <p:spPr>
          <a:xfrm>
            <a:off x="11460480" y="3035808"/>
            <a:ext cx="9997440" cy="5852160"/>
          </a:xfrm>
          <a:prstGeom prst="rect">
            <a:avLst/>
          </a:prstGeom>
          <a:solidFill>
            <a:srgbClr val="E8ECF1"/>
          </a:solidFill>
          <a:ln w="25400">
            <a:solidFill>
              <a:srgbClr val="C7CED8"/>
            </a:solidFill>
            <a:prstDash val="dash"/>
          </a:ln>
        </p:spPr>
      </p:sp>
      <p:sp>
        <p:nvSpPr>
          <p:cNvPr id="66" name="Text 62"/>
          <p:cNvSpPr/>
          <p:nvPr/>
        </p:nvSpPr>
        <p:spPr>
          <a:xfrm>
            <a:off x="11460480" y="5376672"/>
            <a:ext cx="99974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CAD RENDER / 3D MODEL HERE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11231880" y="9418320"/>
            <a:ext cx="1045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4"/>
          <p:cNvSpPr/>
          <p:nvPr/>
        </p:nvSpPr>
        <p:spPr>
          <a:xfrm>
            <a:off x="11231880" y="9464040"/>
            <a:ext cx="73152" cy="44805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69" name="Shape 65"/>
          <p:cNvSpPr/>
          <p:nvPr/>
        </p:nvSpPr>
        <p:spPr>
          <a:xfrm>
            <a:off x="11369040" y="952804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70" name="Text 66"/>
          <p:cNvSpPr/>
          <p:nvPr/>
        </p:nvSpPr>
        <p:spPr>
          <a:xfrm>
            <a:off x="11551920" y="952804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 STRESS ANALYSIS</a:t>
            </a:r>
            <a:endParaRPr lang="en-US" sz="1800" dirty="0"/>
          </a:p>
        </p:txBody>
      </p:sp>
      <p:sp>
        <p:nvSpPr>
          <p:cNvPr id="71" name="Shape 67"/>
          <p:cNvSpPr/>
          <p:nvPr/>
        </p:nvSpPr>
        <p:spPr>
          <a:xfrm>
            <a:off x="11460480" y="10168128"/>
            <a:ext cx="9997440" cy="3566160"/>
          </a:xfrm>
          <a:prstGeom prst="rect">
            <a:avLst/>
          </a:prstGeom>
          <a:solidFill>
            <a:srgbClr val="E8ECF1"/>
          </a:solidFill>
          <a:ln w="25400">
            <a:solidFill>
              <a:srgbClr val="C7CED8"/>
            </a:solidFill>
            <a:prstDash val="dash"/>
          </a:ln>
        </p:spPr>
      </p:sp>
      <p:sp>
        <p:nvSpPr>
          <p:cNvPr id="72" name="Text 68"/>
          <p:cNvSpPr/>
          <p:nvPr/>
        </p:nvSpPr>
        <p:spPr>
          <a:xfrm>
            <a:off x="11460480" y="11594592"/>
            <a:ext cx="999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FEA RESULTS IMAGE HERE</a:t>
            </a:r>
            <a:endParaRPr lang="en-US" sz="1200" dirty="0"/>
          </a:p>
        </p:txBody>
      </p:sp>
      <p:sp>
        <p:nvSpPr>
          <p:cNvPr id="73" name="Shape 69"/>
          <p:cNvSpPr/>
          <p:nvPr/>
        </p:nvSpPr>
        <p:spPr>
          <a:xfrm>
            <a:off x="20909280" y="10442448"/>
            <a:ext cx="274320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4" name="Shape 70"/>
          <p:cNvSpPr/>
          <p:nvPr/>
        </p:nvSpPr>
        <p:spPr>
          <a:xfrm>
            <a:off x="20909280" y="11082528"/>
            <a:ext cx="274320" cy="640080"/>
          </a:xfrm>
          <a:prstGeom prst="rect">
            <a:avLst/>
          </a:prstGeom>
          <a:solidFill>
            <a:srgbClr val="99CC33"/>
          </a:solidFill>
          <a:ln/>
        </p:spPr>
      </p:sp>
      <p:sp>
        <p:nvSpPr>
          <p:cNvPr id="75" name="Shape 71"/>
          <p:cNvSpPr/>
          <p:nvPr/>
        </p:nvSpPr>
        <p:spPr>
          <a:xfrm>
            <a:off x="20909280" y="11722608"/>
            <a:ext cx="274320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6" name="Shape 72"/>
          <p:cNvSpPr/>
          <p:nvPr/>
        </p:nvSpPr>
        <p:spPr>
          <a:xfrm>
            <a:off x="20909280" y="12362688"/>
            <a:ext cx="274320" cy="640080"/>
          </a:xfrm>
          <a:prstGeom prst="rect">
            <a:avLst/>
          </a:prstGeom>
          <a:solidFill>
            <a:srgbClr val="E88833"/>
          </a:solidFill>
          <a:ln/>
        </p:spPr>
      </p:sp>
      <p:sp>
        <p:nvSpPr>
          <p:cNvPr id="77" name="Shape 73"/>
          <p:cNvSpPr/>
          <p:nvPr/>
        </p:nvSpPr>
        <p:spPr>
          <a:xfrm>
            <a:off x="20909280" y="13002768"/>
            <a:ext cx="274320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8" name="Text 74"/>
          <p:cNvSpPr/>
          <p:nvPr/>
        </p:nvSpPr>
        <p:spPr>
          <a:xfrm>
            <a:off x="21229320" y="10442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1229320" y="1300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700" dirty="0"/>
          </a:p>
        </p:txBody>
      </p:sp>
      <p:sp>
        <p:nvSpPr>
          <p:cNvPr id="80" name="Shape 76"/>
          <p:cNvSpPr/>
          <p:nvPr/>
        </p:nvSpPr>
        <p:spPr>
          <a:xfrm>
            <a:off x="11231880" y="14264640"/>
            <a:ext cx="1045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7"/>
          <p:cNvSpPr/>
          <p:nvPr/>
        </p:nvSpPr>
        <p:spPr>
          <a:xfrm>
            <a:off x="11231880" y="14310360"/>
            <a:ext cx="73152" cy="35661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82" name="Shape 78"/>
          <p:cNvSpPr/>
          <p:nvPr/>
        </p:nvSpPr>
        <p:spPr>
          <a:xfrm>
            <a:off x="11369040" y="1437436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83" name="Text 79"/>
          <p:cNvSpPr/>
          <p:nvPr/>
        </p:nvSpPr>
        <p:spPr>
          <a:xfrm>
            <a:off x="11551920" y="1437436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vs. DISPLACEMENT</a:t>
            </a:r>
            <a:endParaRPr lang="en-US" sz="1800" dirty="0"/>
          </a:p>
        </p:txBody>
      </p:sp>
      <p:pic>
        <p:nvPicPr>
          <p:cNvPr id="8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643360" y="15014448"/>
            <a:ext cx="9631680" cy="2743200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11460480" y="17510760"/>
            <a:ext cx="999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 data — replace with actual test results</a:t>
            </a:r>
            <a:endParaRPr lang="en-US" sz="800" dirty="0"/>
          </a:p>
        </p:txBody>
      </p:sp>
      <p:sp>
        <p:nvSpPr>
          <p:cNvPr id="86" name="Shape 81"/>
          <p:cNvSpPr/>
          <p:nvPr/>
        </p:nvSpPr>
        <p:spPr>
          <a:xfrm>
            <a:off x="11231880" y="18196560"/>
            <a:ext cx="1045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7" name="Shape 82"/>
          <p:cNvSpPr/>
          <p:nvPr/>
        </p:nvSpPr>
        <p:spPr>
          <a:xfrm>
            <a:off x="11231880" y="18242280"/>
            <a:ext cx="73152" cy="384048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88" name="Shape 83"/>
          <p:cNvSpPr/>
          <p:nvPr/>
        </p:nvSpPr>
        <p:spPr>
          <a:xfrm>
            <a:off x="11369040" y="1830628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89" name="Text 84"/>
          <p:cNvSpPr/>
          <p:nvPr/>
        </p:nvSpPr>
        <p:spPr>
          <a:xfrm>
            <a:off x="11551920" y="1830628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SYSTEM ARCHITECTURE</a:t>
            </a:r>
            <a:endParaRPr lang="en-US" sz="1800" dirty="0"/>
          </a:p>
        </p:txBody>
      </p:sp>
      <p:pic>
        <p:nvPicPr>
          <p:cNvPr id="9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643360" y="18946368"/>
            <a:ext cx="9631680" cy="3017520"/>
          </a:xfrm>
          <a:prstGeom prst="rect">
            <a:avLst/>
          </a:prstGeom>
        </p:spPr>
      </p:pic>
      <p:sp>
        <p:nvSpPr>
          <p:cNvPr id="91" name="Shape 85"/>
          <p:cNvSpPr/>
          <p:nvPr/>
        </p:nvSpPr>
        <p:spPr>
          <a:xfrm>
            <a:off x="11231880" y="22402800"/>
            <a:ext cx="10454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2" name="Shape 86"/>
          <p:cNvSpPr/>
          <p:nvPr/>
        </p:nvSpPr>
        <p:spPr>
          <a:xfrm>
            <a:off x="11231880" y="22448520"/>
            <a:ext cx="73152" cy="374904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93" name="Shape 87"/>
          <p:cNvSpPr/>
          <p:nvPr/>
        </p:nvSpPr>
        <p:spPr>
          <a:xfrm>
            <a:off x="11369040" y="2251252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94" name="Text 88"/>
          <p:cNvSpPr/>
          <p:nvPr/>
        </p:nvSpPr>
        <p:spPr>
          <a:xfrm>
            <a:off x="11551920" y="2251252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1800" dirty="0"/>
          </a:p>
        </p:txBody>
      </p:sp>
      <p:pic>
        <p:nvPicPr>
          <p:cNvPr id="9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734800" y="23152608"/>
            <a:ext cx="9448800" cy="2926080"/>
          </a:xfrm>
          <a:prstGeom prst="rect">
            <a:avLst/>
          </a:prstGeom>
        </p:spPr>
      </p:pic>
      <p:sp>
        <p:nvSpPr>
          <p:cNvPr id="96" name="Shape 89"/>
          <p:cNvSpPr/>
          <p:nvPr/>
        </p:nvSpPr>
        <p:spPr>
          <a:xfrm>
            <a:off x="22006560" y="2286000"/>
            <a:ext cx="10454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7" name="Shape 90"/>
          <p:cNvSpPr/>
          <p:nvPr/>
        </p:nvSpPr>
        <p:spPr>
          <a:xfrm>
            <a:off x="22006560" y="2331720"/>
            <a:ext cx="73152" cy="21945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98" name="Shape 91"/>
          <p:cNvSpPr/>
          <p:nvPr/>
        </p:nvSpPr>
        <p:spPr>
          <a:xfrm>
            <a:off x="22143720" y="239572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99" name="Text 92"/>
          <p:cNvSpPr/>
          <p:nvPr/>
        </p:nvSpPr>
        <p:spPr>
          <a:xfrm>
            <a:off x="22326600" y="239572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PERFORMANCE METRICS</a:t>
            </a:r>
            <a:endParaRPr lang="en-US" sz="1800" dirty="0"/>
          </a:p>
        </p:txBody>
      </p:sp>
      <p:sp>
        <p:nvSpPr>
          <p:cNvPr id="100" name="Shape 93"/>
          <p:cNvSpPr/>
          <p:nvPr/>
        </p:nvSpPr>
        <p:spPr>
          <a:xfrm>
            <a:off x="22235160" y="3035808"/>
            <a:ext cx="2430780" cy="11887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01" name="Text 94"/>
          <p:cNvSpPr/>
          <p:nvPr/>
        </p:nvSpPr>
        <p:spPr>
          <a:xfrm>
            <a:off x="22235160" y="3127248"/>
            <a:ext cx="2430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ft+</a:t>
            </a:r>
            <a:endParaRPr lang="en-US" sz="2000" dirty="0"/>
          </a:p>
        </p:txBody>
      </p:sp>
      <p:sp>
        <p:nvSpPr>
          <p:cNvPr id="102" name="Text 95"/>
          <p:cNvSpPr/>
          <p:nvPr/>
        </p:nvSpPr>
        <p:spPr>
          <a:xfrm>
            <a:off x="22235160" y="3675888"/>
            <a:ext cx="2430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Under-Table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950" dirty="0"/>
          </a:p>
        </p:txBody>
      </p:sp>
      <p:sp>
        <p:nvSpPr>
          <p:cNvPr id="103" name="Shape 96"/>
          <p:cNvSpPr/>
          <p:nvPr/>
        </p:nvSpPr>
        <p:spPr>
          <a:xfrm>
            <a:off x="24757380" y="3035808"/>
            <a:ext cx="2430780" cy="11887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04" name="Text 97"/>
          <p:cNvSpPr/>
          <p:nvPr/>
        </p:nvSpPr>
        <p:spPr>
          <a:xfrm>
            <a:off x="24757380" y="3127248"/>
            <a:ext cx="2430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lb</a:t>
            </a:r>
            <a:endParaRPr lang="en-US" sz="2000" dirty="0"/>
          </a:p>
        </p:txBody>
      </p:sp>
      <p:sp>
        <p:nvSpPr>
          <p:cNvPr id="105" name="Text 98"/>
          <p:cNvSpPr/>
          <p:nvPr/>
        </p:nvSpPr>
        <p:spPr>
          <a:xfrm>
            <a:off x="24757380" y="3675888"/>
            <a:ext cx="2430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50" dirty="0"/>
          </a:p>
        </p:txBody>
      </p:sp>
      <p:sp>
        <p:nvSpPr>
          <p:cNvPr id="106" name="Shape 99"/>
          <p:cNvSpPr/>
          <p:nvPr/>
        </p:nvSpPr>
        <p:spPr>
          <a:xfrm>
            <a:off x="27279600" y="3035808"/>
            <a:ext cx="2430780" cy="11887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07" name="Text 100"/>
          <p:cNvSpPr/>
          <p:nvPr/>
        </p:nvSpPr>
        <p:spPr>
          <a:xfrm>
            <a:off x="27279600" y="3127248"/>
            <a:ext cx="2430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lb</a:t>
            </a:r>
            <a:endParaRPr lang="en-US" sz="2000" dirty="0"/>
          </a:p>
        </p:txBody>
      </p:sp>
      <p:sp>
        <p:nvSpPr>
          <p:cNvPr id="108" name="Text 101"/>
          <p:cNvSpPr/>
          <p:nvPr/>
        </p:nvSpPr>
        <p:spPr>
          <a:xfrm>
            <a:off x="27279600" y="3675888"/>
            <a:ext cx="2430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50" dirty="0"/>
          </a:p>
        </p:txBody>
      </p:sp>
      <p:sp>
        <p:nvSpPr>
          <p:cNvPr id="109" name="Shape 102"/>
          <p:cNvSpPr/>
          <p:nvPr/>
        </p:nvSpPr>
        <p:spPr>
          <a:xfrm>
            <a:off x="29801820" y="3035808"/>
            <a:ext cx="2430780" cy="11887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10" name="Text 103"/>
          <p:cNvSpPr/>
          <p:nvPr/>
        </p:nvSpPr>
        <p:spPr>
          <a:xfrm>
            <a:off x="29801820" y="3127248"/>
            <a:ext cx="2430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 m/s</a:t>
            </a:r>
            <a:endParaRPr lang="en-US" sz="2000" dirty="0"/>
          </a:p>
        </p:txBody>
      </p:sp>
      <p:sp>
        <p:nvSpPr>
          <p:cNvPr id="111" name="Text 104"/>
          <p:cNvSpPr/>
          <p:nvPr/>
        </p:nvSpPr>
        <p:spPr>
          <a:xfrm>
            <a:off x="29801820" y="3675888"/>
            <a:ext cx="2430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Vertical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950" dirty="0"/>
          </a:p>
        </p:txBody>
      </p:sp>
      <p:sp>
        <p:nvSpPr>
          <p:cNvPr id="112" name="Shape 105"/>
          <p:cNvSpPr/>
          <p:nvPr/>
        </p:nvSpPr>
        <p:spPr>
          <a:xfrm>
            <a:off x="22006560" y="4846320"/>
            <a:ext cx="10454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3" name="Shape 106"/>
          <p:cNvSpPr/>
          <p:nvPr/>
        </p:nvSpPr>
        <p:spPr>
          <a:xfrm>
            <a:off x="22006560" y="4892040"/>
            <a:ext cx="73152" cy="411480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114" name="Shape 107"/>
          <p:cNvSpPr/>
          <p:nvPr/>
        </p:nvSpPr>
        <p:spPr>
          <a:xfrm>
            <a:off x="22143720" y="495604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15" name="Text 108"/>
          <p:cNvSpPr/>
          <p:nvPr/>
        </p:nvSpPr>
        <p:spPr>
          <a:xfrm>
            <a:off x="22326600" y="495604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VALIDATION</a:t>
            </a:r>
            <a:endParaRPr lang="en-US" sz="18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235160" y="5596128"/>
          <a:ext cx="9997440" cy="914400"/>
        </p:xfrm>
        <a:graphic>
          <a:graphicData uri="http://schemas.openxmlformats.org/drawingml/2006/table">
            <a:tbl>
              <a:tblPr/>
              <a:tblGrid>
                <a:gridCol w="4198925"/>
                <a:gridCol w="2799283"/>
                <a:gridCol w="2999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Translation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0.05 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lb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Under-Table Clearance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 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E-Stop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HMI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0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Stability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5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0.5°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7" name="Shape 109"/>
          <p:cNvSpPr/>
          <p:nvPr/>
        </p:nvSpPr>
        <p:spPr>
          <a:xfrm>
            <a:off x="22006560" y="9326880"/>
            <a:ext cx="1045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8" name="Shape 110"/>
          <p:cNvSpPr/>
          <p:nvPr/>
        </p:nvSpPr>
        <p:spPr>
          <a:xfrm>
            <a:off x="22006560" y="9372600"/>
            <a:ext cx="73152" cy="44805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119" name="Shape 111"/>
          <p:cNvSpPr/>
          <p:nvPr/>
        </p:nvSpPr>
        <p:spPr>
          <a:xfrm>
            <a:off x="22143720" y="943660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20" name="Text 112"/>
          <p:cNvSpPr/>
          <p:nvPr/>
        </p:nvSpPr>
        <p:spPr>
          <a:xfrm>
            <a:off x="22326600" y="943660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DIAGRAM</a:t>
            </a:r>
            <a:endParaRPr lang="en-US" sz="1800" dirty="0"/>
          </a:p>
        </p:txBody>
      </p:sp>
      <p:pic>
        <p:nvPicPr>
          <p:cNvPr id="1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418040" y="10076688"/>
            <a:ext cx="9631680" cy="3566160"/>
          </a:xfrm>
          <a:prstGeom prst="rect">
            <a:avLst/>
          </a:prstGeom>
        </p:spPr>
      </p:pic>
      <p:sp>
        <p:nvSpPr>
          <p:cNvPr id="122" name="Text 113"/>
          <p:cNvSpPr/>
          <p:nvPr/>
        </p:nvSpPr>
        <p:spPr>
          <a:xfrm>
            <a:off x="22235160" y="13487400"/>
            <a:ext cx="999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 with actual wiring schematic</a:t>
            </a:r>
            <a:endParaRPr lang="en-US" sz="800" dirty="0"/>
          </a:p>
        </p:txBody>
      </p:sp>
      <p:sp>
        <p:nvSpPr>
          <p:cNvPr id="123" name="Shape 114"/>
          <p:cNvSpPr/>
          <p:nvPr/>
        </p:nvSpPr>
        <p:spPr>
          <a:xfrm>
            <a:off x="22006560" y="14173200"/>
            <a:ext cx="1045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4" name="Shape 115"/>
          <p:cNvSpPr/>
          <p:nvPr/>
        </p:nvSpPr>
        <p:spPr>
          <a:xfrm>
            <a:off x="22006560" y="14218920"/>
            <a:ext cx="73152" cy="31089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125" name="Shape 116"/>
          <p:cNvSpPr/>
          <p:nvPr/>
        </p:nvSpPr>
        <p:spPr>
          <a:xfrm>
            <a:off x="22143720" y="1428292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26" name="Text 117"/>
          <p:cNvSpPr/>
          <p:nvPr/>
        </p:nvSpPr>
        <p:spPr>
          <a:xfrm>
            <a:off x="22326600" y="1428292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127" name="Shape 118"/>
          <p:cNvSpPr/>
          <p:nvPr/>
        </p:nvSpPr>
        <p:spPr>
          <a:xfrm>
            <a:off x="22235160" y="14923008"/>
            <a:ext cx="9997440" cy="2194560"/>
          </a:xfrm>
          <a:prstGeom prst="rect">
            <a:avLst/>
          </a:prstGeom>
          <a:solidFill>
            <a:srgbClr val="E8ECF1"/>
          </a:solidFill>
          <a:ln w="25400">
            <a:solidFill>
              <a:srgbClr val="C7CED8"/>
            </a:solidFill>
            <a:prstDash val="dash"/>
          </a:ln>
        </p:spPr>
      </p:sp>
      <p:sp>
        <p:nvSpPr>
          <p:cNvPr id="128" name="Text 119"/>
          <p:cNvSpPr/>
          <p:nvPr/>
        </p:nvSpPr>
        <p:spPr>
          <a:xfrm>
            <a:off x="22235160" y="15800832"/>
            <a:ext cx="999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PROTOTYPE PHOTO HERE</a:t>
            </a:r>
            <a:endParaRPr lang="en-US" sz="1200" dirty="0"/>
          </a:p>
        </p:txBody>
      </p:sp>
      <p:sp>
        <p:nvSpPr>
          <p:cNvPr id="129" name="Shape 120"/>
          <p:cNvSpPr/>
          <p:nvPr/>
        </p:nvSpPr>
        <p:spPr>
          <a:xfrm>
            <a:off x="22006560" y="17647920"/>
            <a:ext cx="10454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0" name="Shape 121"/>
          <p:cNvSpPr/>
          <p:nvPr/>
        </p:nvSpPr>
        <p:spPr>
          <a:xfrm>
            <a:off x="22006560" y="17693640"/>
            <a:ext cx="73152" cy="448056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131" name="Shape 122"/>
          <p:cNvSpPr/>
          <p:nvPr/>
        </p:nvSpPr>
        <p:spPr>
          <a:xfrm>
            <a:off x="22143720" y="17757648"/>
            <a:ext cx="10180320" cy="5029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32" name="Text 123"/>
          <p:cNvSpPr/>
          <p:nvPr/>
        </p:nvSpPr>
        <p:spPr>
          <a:xfrm>
            <a:off x="22326600" y="17757648"/>
            <a:ext cx="981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33" name="Text 124"/>
          <p:cNvSpPr/>
          <p:nvPr/>
        </p:nvSpPr>
        <p:spPr>
          <a:xfrm>
            <a:off x="22235160" y="18397728"/>
            <a:ext cx="999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</a:t>
            </a:r>
            <a:endParaRPr lang="en-US" sz="1300" dirty="0"/>
          </a:p>
        </p:txBody>
      </p:sp>
      <p:sp>
        <p:nvSpPr>
          <p:cNvPr id="134" name="Text 125"/>
          <p:cNvSpPr/>
          <p:nvPr/>
        </p:nvSpPr>
        <p:spPr>
          <a:xfrm>
            <a:off x="22326600" y="18690336"/>
            <a:ext cx="9814560" cy="76809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safety cage or light curtain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assembly weight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for DFMA</a:t>
            </a:r>
            <a:endParaRPr lang="en-US" sz="1150" dirty="0"/>
          </a:p>
        </p:txBody>
      </p:sp>
      <p:sp>
        <p:nvSpPr>
          <p:cNvPr id="135" name="Text 126"/>
          <p:cNvSpPr/>
          <p:nvPr/>
        </p:nvSpPr>
        <p:spPr>
          <a:xfrm>
            <a:off x="22235160" y="19568160"/>
            <a:ext cx="999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Subsystem</a:t>
            </a:r>
            <a:endParaRPr lang="en-US" sz="1300" dirty="0"/>
          </a:p>
        </p:txBody>
      </p:sp>
      <p:sp>
        <p:nvSpPr>
          <p:cNvPr id="136" name="Text 127"/>
          <p:cNvSpPr/>
          <p:nvPr/>
        </p:nvSpPr>
        <p:spPr>
          <a:xfrm>
            <a:off x="22326600" y="19860768"/>
            <a:ext cx="9814560" cy="76809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with stainless steel channels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polycarbonate cover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rigging provisions</a:t>
            </a:r>
            <a:endParaRPr lang="en-US" sz="1150" dirty="0"/>
          </a:p>
        </p:txBody>
      </p:sp>
      <p:sp>
        <p:nvSpPr>
          <p:cNvPr id="137" name="Text 128"/>
          <p:cNvSpPr/>
          <p:nvPr/>
        </p:nvSpPr>
        <p:spPr>
          <a:xfrm>
            <a:off x="22235160" y="20738592"/>
            <a:ext cx="999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 Subsystem</a:t>
            </a:r>
            <a:endParaRPr lang="en-US" sz="1300" dirty="0"/>
          </a:p>
        </p:txBody>
      </p:sp>
      <p:sp>
        <p:nvSpPr>
          <p:cNvPr id="138" name="Text 129"/>
          <p:cNvSpPr/>
          <p:nvPr/>
        </p:nvSpPr>
        <p:spPr>
          <a:xfrm>
            <a:off x="22326600" y="21031200"/>
            <a:ext cx="9814560" cy="512064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torque brake &amp; gearbox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redundant braking mechanism</a:t>
            </a:r>
            <a:endParaRPr lang="en-US" sz="1150" dirty="0"/>
          </a:p>
        </p:txBody>
      </p:sp>
      <p:sp>
        <p:nvSpPr>
          <p:cNvPr id="139" name="Text 130"/>
          <p:cNvSpPr/>
          <p:nvPr/>
        </p:nvSpPr>
        <p:spPr>
          <a:xfrm>
            <a:off x="22235160" y="21652992"/>
            <a:ext cx="999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Electrical &amp; Controls</a:t>
            </a:r>
            <a:endParaRPr lang="en-US" sz="1300" dirty="0"/>
          </a:p>
        </p:txBody>
      </p:sp>
      <p:sp>
        <p:nvSpPr>
          <p:cNvPr id="140" name="Text 131"/>
          <p:cNvSpPr/>
          <p:nvPr/>
        </p:nvSpPr>
        <p:spPr>
          <a:xfrm>
            <a:off x="22326600" y="21945600"/>
            <a:ext cx="9814560" cy="512064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safety switch on cabinet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A4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PID control algorithm</a:t>
            </a:r>
            <a:endParaRPr lang="en-US" sz="1150" dirty="0"/>
          </a:p>
        </p:txBody>
      </p:sp>
      <p:sp>
        <p:nvSpPr>
          <p:cNvPr id="141" name="Shape 132"/>
          <p:cNvSpPr/>
          <p:nvPr/>
        </p:nvSpPr>
        <p:spPr>
          <a:xfrm>
            <a:off x="0" y="43388280"/>
            <a:ext cx="32918400" cy="502920"/>
          </a:xfrm>
          <a:prstGeom prst="rect">
            <a:avLst/>
          </a:prstGeom>
          <a:solidFill>
            <a:srgbClr val="00205B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2" name="Text 133"/>
          <p:cNvSpPr/>
          <p:nvPr/>
        </p:nvSpPr>
        <p:spPr>
          <a:xfrm>
            <a:off x="548640" y="433882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5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AIRBUS ROBOTICS  ·  Capstone Project 2025–2026</a:t>
            </a:r>
            <a:endParaRPr lang="en-US" sz="1100" dirty="0"/>
          </a:p>
        </p:txBody>
      </p:sp>
      <p:sp>
        <p:nvSpPr>
          <p:cNvPr id="143" name="Text 134"/>
          <p:cNvSpPr/>
          <p:nvPr/>
        </p:nvSpPr>
        <p:spPr>
          <a:xfrm>
            <a:off x="10972800" y="433882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UBC Mechanical Engineering  ·  Design &amp; Innovation Day</a:t>
            </a:r>
            <a:endParaRPr lang="en-US" sz="1100" dirty="0"/>
          </a:p>
        </p:txBody>
      </p:sp>
      <p:sp>
        <p:nvSpPr>
          <p:cNvPr id="144" name="Text 135"/>
          <p:cNvSpPr/>
          <p:nvPr/>
        </p:nvSpPr>
        <p:spPr>
          <a:xfrm>
            <a:off x="21945600" y="43388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C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T2  ·  36" × 48" Poster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Airbus Flip Table — D&amp;ID Poster</dc:title>
  <dc:subject>PptxGenJS Presentation</dc:subject>
  <dc:creator>Team T2</dc:creator>
  <cp:lastModifiedBy>Team T2</cp:lastModifiedBy>
  <cp:revision>1</cp:revision>
  <dcterms:created xsi:type="dcterms:W3CDTF">2026-03-26T12:22:31Z</dcterms:created>
  <dcterms:modified xsi:type="dcterms:W3CDTF">2026-03-26T12:22:31Z</dcterms:modified>
</cp:coreProperties>
</file>